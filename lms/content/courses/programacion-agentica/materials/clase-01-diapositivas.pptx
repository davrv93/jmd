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f8856e99-2780-7b4e-c3b8-fc3cb0620085}">
          <p14:sldIdLst>
            <p14:sldId id="256"/>
            <p14:sldId id="257"/>
          </p14:sldIdLst>
        </p14:section>
        <p14:section name="Instalación" id="{6b6a9737-7598-6169-20f4-e6c7765765bb}">
          <p14:sldIdLst>
            <p14:sldId id="258"/>
            <p14:sldId id="259"/>
            <p14:sldId id="260"/>
            <p14:sldId id="261"/>
            <p14:sldId id="262"/>
          </p14:sldIdLst>
        </p14:section>
        <p14:section name="Conceptos" id="{af298220-540d-3df5-57a2-4afebae04214}">
          <p14:sldIdLst>
            <p14:sldId id="263"/>
            <p14:sldId id="264"/>
            <p14:sldId id="265"/>
            <p14:sldId id="266"/>
            <p14:sldId id="267"/>
          </p14:sldIdLst>
        </p14:section>
        <p14:section name="Ahorro de tokens" id="{75c32764-a27f-d62f-0aa9-21cd4642997e}">
          <p14:sldIdLst>
            <p14:sldId id="268"/>
            <p14:sldId id="269"/>
          </p14:sldIdLst>
        </p14:section>
        <p14:section name="MCP y skills" id="{af984246-1157-ca8c-2888-f2a36cabc3e8}">
          <p14:sldIdLst>
            <p14:sldId id="270"/>
            <p14:sldId id="271"/>
            <p14:sldId id="272"/>
          </p14:sldIdLst>
        </p14:section>
        <p14:section name="Cierre" id="{fabe9cf4-6cfc-51c2-e959-1876ba6f5239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Hoy dejamos el entorno listo y ponemos nombre a las piezas con las que trabajaremos todo el curso. Al final cada uno debe tener jmd conectado y su primera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Orden de la sesión. Si algo no funciona en clase, que sigan mirando y publiquen el error completo en el hilo de preguntas del LMS.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Instalamos jmd primero porque es lo que nos conecta al gateway de la clase. Recordar: WSL y Windows son dos sistemas distintos; se instala donde corre la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Revisar el diff antes de aceptar es parte del oficio. VS Code nos lo muestra integrado.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todos ejecuten code --version en su terminal. Si no aparece, falta el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Contenedor no es máquina virtual: comparte el núcleo con tu sistema, es más ligero y reproducible. Podman es compatible con los mismos comandos.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Prueba opcional: clonar el repo jmd y hacer docker compose up -d --build para levantar el gateway localmente.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distingue a un agente de un chat es que actúa sobre tu proyecto y comprueba el resultado de cada acción. Vibecoding bien hecho es dirigir y revisar; mal hecho es aceptar sin leer.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cuatro reglas se sostienen todo el curso. Insistir en git: es la red de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Casi todos hablan el formato de OpenAI (POST /v1/chat/completions). Anthropic tiene /v1/messages, que es el que usa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jmd models y jmd route para ver a qué cadena iría una petición sin gastar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gateway cada agente trae sus parámetros por defecto; por ejemplo coding usa temperature 0.2.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ve lo que necesitaba ver con muchos menos tokens. Con cuota gratuita, eso marca cuánto puedes trabajar al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Frases cortas, sin cortesías: menos tokens de salida y respuestas más rápidas. jmd style lite, full o ultra hace lo mismo para cualquier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cada agente integraba cada servicio a su manera. Con MCP un servidor expone sus capacidades una vez y cualquier cliente las usa. El LMS tendrá su propio servidor MCP.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descripción dice CUÁNDO usarla (es lo que el agente lee siempre); el cuerpo dice CÓMO, en pasos cortos y verificables.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Descargar skills.zip desde el LMS (sección Adjuntos) y descomprimirlo en ~/.claude/skills/. Probar pidiendo una landing al agente.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rúbrica completa está en la tarea del LMS. Para la próxima clase: entorno listo; construiremos un proyecto desde cero y veremos CLAUDE.md y AGENTS.md.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Recordar el hilo de preguntas y la fecha de entrega de la tarea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Portada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ido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ierr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417320"/>
            <a:ext cx="56692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spc="3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920240"/>
            <a:ext cx="60350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572000"/>
            <a:ext cx="56692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JMD · Programación agéntica · Clase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9776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4892040"/>
            <a:ext cx="94183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417320"/>
            <a:ext cx="56692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b="1" spc="300" kern="0" dirty="0">
                <a:solidFill>
                  <a:schemeClr val="accent2"/>
                </a:solidFill>
              </a:rPr>
              <a:t>CLASE 1 · PROGRAMACIÓN AGÉNTICA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920240"/>
            <a:ext cx="6035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Instalar las herramientas y entender qué hay detrás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57200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jmd · VS Code · Docker · agentes · proveedores · modelos · parámetros · RTK · caveman · MCP · skills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Lo que haremos hoy</a:t>
            </a:r>
            <a:endParaRPr lang="en-US" sz="3600" dirty="0"/>
          </a:p>
        </p:txBody>
      </p:sp>
      <p:sp>
        <p:nvSpPr>
          <p:cNvPr id="3" name="Agenda 1"/>
          <p:cNvSpPr/>
          <p:nvPr/>
        </p:nvSpPr>
        <p:spPr>
          <a:xfrm>
            <a:off x="548640" y="150876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4" name="Icono agenda 1 fondo"/>
          <p:cNvSpPr/>
          <p:nvPr/>
        </p:nvSpPr>
        <p:spPr>
          <a:xfrm>
            <a:off x="777240" y="1737360"/>
            <a:ext cx="685800" cy="68580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5" name="Icono agenda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0195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94560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60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Instalar jmd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El CLI del curso y el gateway de IA</a:t>
            </a:r>
            <a:endParaRPr lang="en-US" sz="1400" dirty="0"/>
          </a:p>
        </p:txBody>
      </p:sp>
      <p:sp>
        <p:nvSpPr>
          <p:cNvPr id="9" name="Agenda 2"/>
          <p:cNvSpPr/>
          <p:nvPr/>
        </p:nvSpPr>
        <p:spPr>
          <a:xfrm>
            <a:off x="3337560" y="150876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0" name="Icono agenda 2 fondo"/>
          <p:cNvSpPr/>
          <p:nvPr/>
        </p:nvSpPr>
        <p:spPr>
          <a:xfrm>
            <a:off x="3566160" y="1737360"/>
            <a:ext cx="685800" cy="68580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1" name="Icono agenda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90195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83480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02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560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VS Code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Qué es e instalarlo</a:t>
            </a:r>
            <a:endParaRPr lang="en-US" sz="1400" dirty="0"/>
          </a:p>
        </p:txBody>
      </p:sp>
      <p:sp>
        <p:nvSpPr>
          <p:cNvPr id="15" name="Agenda 3"/>
          <p:cNvSpPr/>
          <p:nvPr/>
        </p:nvSpPr>
        <p:spPr>
          <a:xfrm>
            <a:off x="6126480" y="150876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6" name="Icono agenda 3 fondo"/>
          <p:cNvSpPr/>
          <p:nvPr/>
        </p:nvSpPr>
        <p:spPr>
          <a:xfrm>
            <a:off x="6355080" y="1737360"/>
            <a:ext cx="685800" cy="68580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7" name="Icono agenda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0195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772400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03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2560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Docker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Qué es e instalarlo</a:t>
            </a:r>
            <a:endParaRPr lang="en-US" sz="1400" dirty="0"/>
          </a:p>
        </p:txBody>
      </p:sp>
      <p:sp>
        <p:nvSpPr>
          <p:cNvPr id="21" name="Agenda 4"/>
          <p:cNvSpPr/>
          <p:nvPr/>
        </p:nvSpPr>
        <p:spPr>
          <a:xfrm>
            <a:off x="8915400" y="150876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22" name="Icono agenda 4 fondo"/>
          <p:cNvSpPr/>
          <p:nvPr/>
        </p:nvSpPr>
        <p:spPr>
          <a:xfrm>
            <a:off x="9144000" y="1737360"/>
            <a:ext cx="685800" cy="68580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23" name="Icono agenda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901952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561320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04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9144000" y="2560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Agente de IA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9144000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El bucle con herramientas</a:t>
            </a:r>
            <a:endParaRPr lang="en-US" sz="1400" dirty="0"/>
          </a:p>
        </p:txBody>
      </p:sp>
      <p:sp>
        <p:nvSpPr>
          <p:cNvPr id="27" name="Agenda 5"/>
          <p:cNvSpPr/>
          <p:nvPr/>
        </p:nvSpPr>
        <p:spPr>
          <a:xfrm>
            <a:off x="548640" y="388620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28" name="Icono agenda 5 fondo"/>
          <p:cNvSpPr/>
          <p:nvPr/>
        </p:nvSpPr>
        <p:spPr>
          <a:xfrm>
            <a:off x="777240" y="4114800"/>
            <a:ext cx="685800" cy="68580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29" name="Icono agenda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279392"/>
            <a:ext cx="356616" cy="35661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2194560" y="4114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05</a:t>
            </a:r>
            <a:endParaRPr lang="en-US" sz="2400" dirty="0"/>
          </a:p>
        </p:txBody>
      </p:sp>
      <p:sp>
        <p:nvSpPr>
          <p:cNvPr id="31" name="Text 24"/>
          <p:cNvSpPr txBox="1"/>
          <p:nvPr/>
        </p:nvSpPr>
        <p:spPr>
          <a:xfrm>
            <a:off x="777240" y="4937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Provider y modelo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777240" y="53492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Quién aloja y qué responde</a:t>
            </a:r>
            <a:endParaRPr lang="en-US" sz="1400" dirty="0"/>
          </a:p>
        </p:txBody>
      </p:sp>
      <p:sp>
        <p:nvSpPr>
          <p:cNvPr id="33" name="Agenda 6"/>
          <p:cNvSpPr/>
          <p:nvPr/>
        </p:nvSpPr>
        <p:spPr>
          <a:xfrm>
            <a:off x="3337560" y="388620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34" name="Icono agenda 6 fondo"/>
          <p:cNvSpPr/>
          <p:nvPr/>
        </p:nvSpPr>
        <p:spPr>
          <a:xfrm>
            <a:off x="3566160" y="4114800"/>
            <a:ext cx="685800" cy="68580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35" name="Icono agenda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0752" y="4279392"/>
            <a:ext cx="356616" cy="35661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4983480" y="4114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06</a:t>
            </a:r>
            <a:endParaRPr lang="en-US" sz="2400" dirty="0"/>
          </a:p>
        </p:txBody>
      </p:sp>
      <p:sp>
        <p:nvSpPr>
          <p:cNvPr id="37" name="Text 29"/>
          <p:cNvSpPr txBox="1"/>
          <p:nvPr/>
        </p:nvSpPr>
        <p:spPr>
          <a:xfrm>
            <a:off x="3566160" y="4937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Parámetros</a:t>
            </a:r>
            <a:endParaRPr lang="en-US" sz="1800" dirty="0"/>
          </a:p>
        </p:txBody>
      </p:sp>
      <p:sp>
        <p:nvSpPr>
          <p:cNvPr id="38" name="Text 30"/>
          <p:cNvSpPr txBox="1"/>
          <p:nvPr/>
        </p:nvSpPr>
        <p:spPr>
          <a:xfrm>
            <a:off x="3566160" y="53492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Cómo cambia la respuesta</a:t>
            </a:r>
            <a:endParaRPr lang="en-US" sz="1400" dirty="0"/>
          </a:p>
        </p:txBody>
      </p:sp>
      <p:sp>
        <p:nvSpPr>
          <p:cNvPr id="39" name="Agenda 7"/>
          <p:cNvSpPr/>
          <p:nvPr/>
        </p:nvSpPr>
        <p:spPr>
          <a:xfrm>
            <a:off x="6126480" y="388620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40" name="Icono agenda 7 fondo"/>
          <p:cNvSpPr/>
          <p:nvPr/>
        </p:nvSpPr>
        <p:spPr>
          <a:xfrm>
            <a:off x="6355080" y="4114800"/>
            <a:ext cx="685800" cy="68580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41" name="Icono agenda 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4279392"/>
            <a:ext cx="356616" cy="356616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772400" y="4114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07</a:t>
            </a:r>
            <a:endParaRPr lang="en-US" sz="2400" dirty="0"/>
          </a:p>
        </p:txBody>
      </p:sp>
      <p:sp>
        <p:nvSpPr>
          <p:cNvPr id="43" name="Text 34"/>
          <p:cNvSpPr txBox="1"/>
          <p:nvPr/>
        </p:nvSpPr>
        <p:spPr>
          <a:xfrm>
            <a:off x="6355080" y="4937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RTK y caveman</a:t>
            </a:r>
            <a:endParaRPr lang="en-US" sz="1800" dirty="0"/>
          </a:p>
        </p:txBody>
      </p:sp>
      <p:sp>
        <p:nvSpPr>
          <p:cNvPr id="44" name="Text 35"/>
          <p:cNvSpPr txBox="1"/>
          <p:nvPr/>
        </p:nvSpPr>
        <p:spPr>
          <a:xfrm>
            <a:off x="6355080" y="53492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Gastar menos tokens</a:t>
            </a:r>
            <a:endParaRPr lang="en-US" sz="1400" dirty="0"/>
          </a:p>
        </p:txBody>
      </p:sp>
      <p:sp>
        <p:nvSpPr>
          <p:cNvPr id="45" name="Agenda 8"/>
          <p:cNvSpPr/>
          <p:nvPr/>
        </p:nvSpPr>
        <p:spPr>
          <a:xfrm>
            <a:off x="8915400" y="388620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46" name="Icono agenda 8 fondo"/>
          <p:cNvSpPr/>
          <p:nvPr/>
        </p:nvSpPr>
        <p:spPr>
          <a:xfrm>
            <a:off x="9144000" y="4114800"/>
            <a:ext cx="685800" cy="68580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47" name="Icono agenda 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8592" y="4279392"/>
            <a:ext cx="356616" cy="356616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10561320" y="4114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08</a:t>
            </a:r>
            <a:endParaRPr lang="en-US" sz="2400" dirty="0"/>
          </a:p>
        </p:txBody>
      </p:sp>
      <p:sp>
        <p:nvSpPr>
          <p:cNvPr id="49" name="Text 39"/>
          <p:cNvSpPr txBox="1"/>
          <p:nvPr/>
        </p:nvSpPr>
        <p:spPr>
          <a:xfrm>
            <a:off x="9144000" y="4937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MCP y skills</a:t>
            </a:r>
            <a:endParaRPr lang="en-US" sz="1800" dirty="0"/>
          </a:p>
        </p:txBody>
      </p:sp>
      <p:sp>
        <p:nvSpPr>
          <p:cNvPr id="50" name="Text 40"/>
          <p:cNvSpPr txBox="1"/>
          <p:nvPr/>
        </p:nvSpPr>
        <p:spPr>
          <a:xfrm>
            <a:off x="9144000" y="53492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Herramientas y saber hacer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Instalar jmd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Un binario, sin Rust y sin permisos de administrador: el instalador comprueba el SHA-256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Windows (PowerShell)</a:t>
            </a:r>
            <a:endParaRPr lang="en-US" sz="1600" dirty="0"/>
          </a:p>
        </p:txBody>
      </p:sp>
      <p:sp>
        <p:nvSpPr>
          <p:cNvPr id="5" name="Bloque de código"/>
          <p:cNvSpPr/>
          <p:nvPr/>
        </p:nvSpPr>
        <p:spPr>
          <a:xfrm>
            <a:off x="548640" y="224028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0A0218">
              <a:alpha val="85000"/>
            </a:srgbClr>
          </a:solidFill>
          <a:ln w="635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5000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irm https://raw.githubusercontent.com/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davrv93/jmd/main/install.ps1 | iex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WSL, macOS y Linux</a:t>
            </a:r>
            <a:endParaRPr lang="en-US" sz="1600" dirty="0"/>
          </a:p>
        </p:txBody>
      </p:sp>
      <p:sp>
        <p:nvSpPr>
          <p:cNvPr id="8" name="Bloque de código"/>
          <p:cNvSpPr/>
          <p:nvPr/>
        </p:nvSpPr>
        <p:spPr>
          <a:xfrm>
            <a:off x="548640" y="370332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0A0218">
              <a:alpha val="85000"/>
            </a:srgbClr>
          </a:solidFill>
          <a:ln w="635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81304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https://raw.githubusercontent.com/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davrv93/jmd/main/install.sh | sh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548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Cierra y abre la terminal para que tome el PATH. En WSL instala dentro de Ubuntu, no en Windows.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Conectar</a:t>
            </a:r>
            <a:endParaRPr lang="en-US" sz="1600" dirty="0"/>
          </a:p>
        </p:txBody>
      </p:sp>
      <p:sp>
        <p:nvSpPr>
          <p:cNvPr id="12" name="Bloque de código"/>
          <p:cNvSpPr/>
          <p:nvPr/>
        </p:nvSpPr>
        <p:spPr>
          <a:xfrm>
            <a:off x="6309360" y="224028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0A0218">
              <a:alpha val="85000"/>
            </a:srgbClr>
          </a:solidFill>
          <a:ln w="635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350008"/>
            <a:ext cx="493776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jmd login          # URL y clave del instructor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jmd status         # todo en verde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jmd setup claude   # Claude Code → gateway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jmd setup opencode # OpenCode → gateway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jmd models         # qué modelos hay</a:t>
            </a:r>
            <a:endParaRPr lang="en-US" sz="1400" dirty="0"/>
          </a:p>
        </p:txBody>
      </p:sp>
      <p:sp>
        <p:nvSpPr>
          <p:cNvPr id="14" name="Tarjeta ¿Qué es el gateway?"/>
          <p:cNvSpPr/>
          <p:nvPr/>
        </p:nvSpPr>
        <p:spPr>
          <a:xfrm>
            <a:off x="6309360" y="4754880"/>
            <a:ext cx="5303520" cy="1371600"/>
          </a:xfrm>
          <a:prstGeom prst="roundRect">
            <a:avLst>
              <a:gd name="adj" fmla="val 8000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5" name="Icono ¿Qué es el gateway? fondo"/>
          <p:cNvSpPr/>
          <p:nvPr/>
        </p:nvSpPr>
        <p:spPr>
          <a:xfrm>
            <a:off x="6537960" y="498348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6" name="Icono ¿Qué es el gateway?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1579" y="5137099"/>
            <a:ext cx="332842" cy="33284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315200" y="49560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¿Qué es el gateway?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537960" y="5715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Servidor compatible con OpenAI y Anthropic que elige el modelo, hace fallback ante un 429 y lleva las cuotas.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Qué es VS Code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Editor gratuito y de código abierto: arranca rápido y crece con extensiones</a:t>
            </a:r>
            <a:endParaRPr lang="en-US" sz="1800" dirty="0"/>
          </a:p>
        </p:txBody>
      </p:sp>
      <p:sp>
        <p:nvSpPr>
          <p:cNvPr id="4" name="Tarjeta Terminal integrada"/>
          <p:cNvSpPr/>
          <p:nvPr/>
        </p:nvSpPr>
        <p:spPr>
          <a:xfrm>
            <a:off x="548640" y="1828800"/>
            <a:ext cx="3520440" cy="2743200"/>
          </a:xfrm>
          <a:prstGeom prst="roundRect">
            <a:avLst>
              <a:gd name="adj" fmla="val 4000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Icono Terminal integrada fondo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6" name="Icono Terminal integrad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22110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299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Terminal integrada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Casi todo pasa en una terminal: instalar, jmd, lanzar el agente. Ctrl+ñ (teclado español) o Ctrl+` (inglés).</a:t>
            </a:r>
            <a:endParaRPr lang="en-US" sz="1400" dirty="0"/>
          </a:p>
        </p:txBody>
      </p:sp>
      <p:sp>
        <p:nvSpPr>
          <p:cNvPr id="9" name="Tarjeta Paleta de comandos"/>
          <p:cNvSpPr/>
          <p:nvPr/>
        </p:nvSpPr>
        <p:spPr>
          <a:xfrm>
            <a:off x="4343400" y="1828800"/>
            <a:ext cx="3520440" cy="2743200"/>
          </a:xfrm>
          <a:prstGeom prst="roundRect">
            <a:avLst>
              <a:gd name="adj" fmla="val 4000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0" name="Icono Paleta de comandos fondo"/>
          <p:cNvSpPr/>
          <p:nvPr/>
        </p:nvSpPr>
        <p:spPr>
          <a:xfrm>
            <a:off x="4572000" y="205740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1" name="Icono Paleta de comando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22110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20299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Paleta de comandos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78892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Ctrl+Shift+P (Cmd+Shift+P en Mac): escribe lo que quieres hacer y VS Code lo encuentra.</a:t>
            </a:r>
            <a:endParaRPr lang="en-US" sz="1400" dirty="0"/>
          </a:p>
        </p:txBody>
      </p:sp>
      <p:sp>
        <p:nvSpPr>
          <p:cNvPr id="14" name="Tarjeta Explorador y Git"/>
          <p:cNvSpPr/>
          <p:nvPr/>
        </p:nvSpPr>
        <p:spPr>
          <a:xfrm>
            <a:off x="8138160" y="1828800"/>
            <a:ext cx="3520440" cy="2743200"/>
          </a:xfrm>
          <a:prstGeom prst="roundRect">
            <a:avLst>
              <a:gd name="adj" fmla="val 4000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5" name="Icono Explorador y Git fondo"/>
          <p:cNvSpPr/>
          <p:nvPr/>
        </p:nvSpPr>
        <p:spPr>
          <a:xfrm>
            <a:off x="8366760" y="205740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6" name="Icono Explorador y Gi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379" y="22110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4000" y="20299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Explorador y Git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78892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Ves en vivo los archivos que el agente crea o cambia, con su diff, antes de aceptarlos.</a:t>
            </a:r>
            <a:endParaRPr lang="en-US" sz="1400" dirty="0"/>
          </a:p>
        </p:txBody>
      </p:sp>
      <p:sp>
        <p:nvSpPr>
          <p:cNvPr id="19" name="Extensiones"/>
          <p:cNvSpPr/>
          <p:nvPr/>
        </p:nvSpPr>
        <p:spPr>
          <a:xfrm>
            <a:off x="548640" y="4892040"/>
            <a:ext cx="11109960" cy="1188720"/>
          </a:xfrm>
          <a:prstGeom prst="roundRect">
            <a:avLst>
              <a:gd name="adj" fmla="val 9231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77240" y="50292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Extensiones del curso: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WSL (solo Windows) · Docker · GitLens (opcional) · Claude Code. OpenCode se usa desde la terminal.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Instalar VS Code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code.visualstudio.com/download</a:t>
            </a:r>
            <a:endParaRPr lang="en-US" sz="1800" dirty="0"/>
          </a:p>
        </p:txBody>
      </p:sp>
      <p:sp>
        <p:nvSpPr>
          <p:cNvPr id="4" name="Tarjeta Windows"/>
          <p:cNvSpPr/>
          <p:nvPr/>
        </p:nvSpPr>
        <p:spPr>
          <a:xfrm>
            <a:off x="548640" y="182880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Icono Windows fondo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6" name="Icono Window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22110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299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Windows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User Installer de 64 bits. Marca «Agregar al PATH». Si trabajas en WSL: extensión WSL y abre la carpeta con «WSL: Ubuntu».</a:t>
            </a:r>
            <a:endParaRPr lang="en-US" sz="1400" dirty="0"/>
          </a:p>
        </p:txBody>
      </p:sp>
      <p:sp>
        <p:nvSpPr>
          <p:cNvPr id="9" name="Tarjeta macOS"/>
          <p:cNvSpPr/>
          <p:nvPr/>
        </p:nvSpPr>
        <p:spPr>
          <a:xfrm>
            <a:off x="4343400" y="182880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0" name="Icono macOS fondo"/>
          <p:cNvSpPr/>
          <p:nvPr/>
        </p:nvSpPr>
        <p:spPr>
          <a:xfrm>
            <a:off x="4572000" y="205740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1" name="Icono macO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22110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20299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macOS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7889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Descarga el .zip y arrastra la app a Aplicaciones. Paleta → «Shell Command: Install 'code' command in PATH».</a:t>
            </a:r>
            <a:endParaRPr lang="en-US" sz="1400" dirty="0"/>
          </a:p>
        </p:txBody>
      </p:sp>
      <p:sp>
        <p:nvSpPr>
          <p:cNvPr id="14" name="Tarjeta Linux"/>
          <p:cNvSpPr/>
          <p:nvPr/>
        </p:nvSpPr>
        <p:spPr>
          <a:xfrm>
            <a:off x="8138160" y="182880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5" name="Icono Linux fondo"/>
          <p:cNvSpPr/>
          <p:nvPr/>
        </p:nvSpPr>
        <p:spPr>
          <a:xfrm>
            <a:off x="8366760" y="205740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6" name="Icono Linux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379" y="22110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4000" y="20299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Linux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7889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Paquete .deb o .rpm desde la web, o snap install code --classic.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Comprobación</a:t>
            </a:r>
            <a:endParaRPr lang="en-US" sz="1600" dirty="0"/>
          </a:p>
        </p:txBody>
      </p:sp>
      <p:sp>
        <p:nvSpPr>
          <p:cNvPr id="20" name="Bloque de código"/>
          <p:cNvSpPr/>
          <p:nvPr/>
        </p:nvSpPr>
        <p:spPr>
          <a:xfrm>
            <a:off x="548640" y="544068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0A0218">
              <a:alpha val="85000"/>
            </a:srgbClr>
          </a:solidFill>
          <a:ln w="635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31520" y="5550408"/>
            <a:ext cx="4206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--version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Qué es Docker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Empaqueta una app con todo lo que necesita y la ejecuta igual en cualquier máquina</a:t>
            </a:r>
            <a:endParaRPr lang="en-US" sz="1800" dirty="0"/>
          </a:p>
        </p:txBody>
      </p:sp>
      <p:sp>
        <p:nvSpPr>
          <p:cNvPr id="4" name="Paso Dockerfile"/>
          <p:cNvSpPr/>
          <p:nvPr/>
        </p:nvSpPr>
        <p:spPr>
          <a:xfrm>
            <a:off x="548640" y="1828800"/>
            <a:ext cx="3291840" cy="1828800"/>
          </a:xfrm>
          <a:prstGeom prst="roundRect">
            <a:avLst>
              <a:gd name="adj" fmla="val 6000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Icono Dockerfile fondo"/>
          <p:cNvSpPr/>
          <p:nvPr/>
        </p:nvSpPr>
        <p:spPr>
          <a:xfrm>
            <a:off x="777240" y="2057400"/>
            <a:ext cx="731520" cy="73152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6" name="Icono Dockerfi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22329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Dockerfile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La receta</a:t>
            </a:r>
            <a:endParaRPr lang="en-US" sz="1400" dirty="0"/>
          </a:p>
        </p:txBody>
      </p:sp>
      <p:sp>
        <p:nvSpPr>
          <p:cNvPr id="9" name="Flecha 1"/>
          <p:cNvSpPr/>
          <p:nvPr/>
        </p:nvSpPr>
        <p:spPr>
          <a:xfrm>
            <a:off x="3913632" y="2560320"/>
            <a:ext cx="365760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Paso Imagen"/>
          <p:cNvSpPr/>
          <p:nvPr/>
        </p:nvSpPr>
        <p:spPr>
          <a:xfrm>
            <a:off x="4343400" y="1828800"/>
            <a:ext cx="3291840" cy="1828800"/>
          </a:xfrm>
          <a:prstGeom prst="roundRect">
            <a:avLst>
              <a:gd name="adj" fmla="val 6000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1" name="Icono Imagen fondo"/>
          <p:cNvSpPr/>
          <p:nvPr/>
        </p:nvSpPr>
        <p:spPr>
          <a:xfrm>
            <a:off x="4572000" y="2057400"/>
            <a:ext cx="731520" cy="73152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2" name="Icono Image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65" y="223296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Imagen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0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Receta cocinada, de solo lectura</a:t>
            </a:r>
            <a:endParaRPr lang="en-US" sz="1400" dirty="0"/>
          </a:p>
        </p:txBody>
      </p:sp>
      <p:sp>
        <p:nvSpPr>
          <p:cNvPr id="15" name="Flecha 2"/>
          <p:cNvSpPr/>
          <p:nvPr/>
        </p:nvSpPr>
        <p:spPr>
          <a:xfrm>
            <a:off x="7708392" y="2560320"/>
            <a:ext cx="365760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Paso Contenedor"/>
          <p:cNvSpPr/>
          <p:nvPr/>
        </p:nvSpPr>
        <p:spPr>
          <a:xfrm>
            <a:off x="8138160" y="1828800"/>
            <a:ext cx="3291840" cy="1828800"/>
          </a:xfrm>
          <a:prstGeom prst="roundRect">
            <a:avLst>
              <a:gd name="adj" fmla="val 6000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7" name="Icono Contenedor fondo"/>
          <p:cNvSpPr/>
          <p:nvPr/>
        </p:nvSpPr>
        <p:spPr>
          <a:xfrm>
            <a:off x="8366760" y="2057400"/>
            <a:ext cx="731520" cy="73152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8" name="Icono Contenedo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325" y="223296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28116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Contenedor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9281160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La imagen en ejecución, aislada</a:t>
            </a:r>
            <a:endParaRPr lang="en-US" sz="1400" dirty="0"/>
          </a:p>
        </p:txBody>
      </p:sp>
      <p:sp>
        <p:nvSpPr>
          <p:cNvPr id="21" name="Vocabulario Volumen"/>
          <p:cNvSpPr/>
          <p:nvPr/>
        </p:nvSpPr>
        <p:spPr>
          <a:xfrm>
            <a:off x="548640" y="397764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77240" y="39776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Volumen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Carpeta que sobrevive al borrar el contenedor</a:t>
            </a:r>
            <a:endParaRPr lang="en-US" sz="1500" dirty="0"/>
          </a:p>
        </p:txBody>
      </p:sp>
      <p:sp>
        <p:nvSpPr>
          <p:cNvPr id="23" name="Vocabulario Puerto"/>
          <p:cNvSpPr/>
          <p:nvPr/>
        </p:nvSpPr>
        <p:spPr>
          <a:xfrm>
            <a:off x="6172200" y="397764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00800" y="39776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Puerto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-p 4000:4000: lo de dentro, visible fuera</a:t>
            </a:r>
            <a:endParaRPr lang="en-US" sz="1500" dirty="0"/>
          </a:p>
        </p:txBody>
      </p:sp>
      <p:sp>
        <p:nvSpPr>
          <p:cNvPr id="25" name="Vocabulario Compose"/>
          <p:cNvSpPr/>
          <p:nvPr/>
        </p:nvSpPr>
        <p:spPr>
          <a:xfrm>
            <a:off x="548640" y="502920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77240" y="50292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Compose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Varios contenedores en un compose.yaml</a:t>
            </a:r>
            <a:endParaRPr lang="en-US" sz="1500" dirty="0"/>
          </a:p>
        </p:txBody>
      </p:sp>
      <p:sp>
        <p:nvSpPr>
          <p:cNvPr id="27" name="Vocabulario Registro"/>
          <p:cNvSpPr/>
          <p:nvPr/>
        </p:nvSpPr>
        <p:spPr>
          <a:xfrm>
            <a:off x="6172200" y="502920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400800" y="50292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Registro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Donde viven las imágenes: Docker Hub, GHCR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Instalar Docker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En el curso: levantar el gateway con un comando y ejecutar código aislado</a:t>
            </a:r>
            <a:endParaRPr lang="en-US" sz="1800" dirty="0"/>
          </a:p>
        </p:txBody>
      </p:sp>
      <p:sp>
        <p:nvSpPr>
          <p:cNvPr id="4" name="Tarjeta Windows 10/11"/>
          <p:cNvSpPr/>
          <p:nvPr/>
        </p:nvSpPr>
        <p:spPr>
          <a:xfrm>
            <a:off x="548640" y="182880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Icono Windows 10/11 fondo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6" name="Icono Windows 10/1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22110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299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Windows 10/11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Docker Desktop con WSL 2. Si falta: wsl --install como administrador y reinicia. Activa tu Ubuntu en Settings → Resources → WSL integration.</a:t>
            </a:r>
            <a:endParaRPr lang="en-US" sz="1400" dirty="0"/>
          </a:p>
        </p:txBody>
      </p:sp>
      <p:sp>
        <p:nvSpPr>
          <p:cNvPr id="9" name="Tarjeta macOS"/>
          <p:cNvSpPr/>
          <p:nvPr/>
        </p:nvSpPr>
        <p:spPr>
          <a:xfrm>
            <a:off x="4343400" y="182880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0" name="Icono macOS fondo"/>
          <p:cNvSpPr/>
          <p:nvPr/>
        </p:nvSpPr>
        <p:spPr>
          <a:xfrm>
            <a:off x="4572000" y="205740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1" name="Icono macO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22110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20299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macOS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7889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Docker Desktop (Apple Silicon o Intel). Alternativas más ligeras: OrbStack o Colima.</a:t>
            </a:r>
            <a:endParaRPr lang="en-US" sz="1400" dirty="0"/>
          </a:p>
        </p:txBody>
      </p:sp>
      <p:sp>
        <p:nvSpPr>
          <p:cNvPr id="14" name="Tarjeta Linux"/>
          <p:cNvSpPr/>
          <p:nvPr/>
        </p:nvSpPr>
        <p:spPr>
          <a:xfrm>
            <a:off x="8138160" y="182880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5" name="Icono Linux fondo"/>
          <p:cNvSpPr/>
          <p:nvPr/>
        </p:nvSpPr>
        <p:spPr>
          <a:xfrm>
            <a:off x="8366760" y="205740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6" name="Icono Linux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379" y="22110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4000" y="20299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Linux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7889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Docker Engine (docs.docker.com/engine/install) y luego sudo usermod -aG docker $USER. Vuelve a entrar en la sesión.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Comprobación</a:t>
            </a:r>
            <a:endParaRPr lang="en-US" sz="1600" dirty="0"/>
          </a:p>
        </p:txBody>
      </p:sp>
      <p:sp>
        <p:nvSpPr>
          <p:cNvPr id="20" name="Bloque de código"/>
          <p:cNvSpPr/>
          <p:nvPr/>
        </p:nvSpPr>
        <p:spPr>
          <a:xfrm>
            <a:off x="548640" y="5440680"/>
            <a:ext cx="5669280" cy="594360"/>
          </a:xfrm>
          <a:prstGeom prst="roundRect">
            <a:avLst>
              <a:gd name="adj" fmla="val 12308"/>
            </a:avLst>
          </a:prstGeom>
          <a:solidFill>
            <a:srgbClr val="0A0218">
              <a:alpha val="85000"/>
            </a:srgbClr>
          </a:solidFill>
          <a:ln w="635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31520" y="5550408"/>
            <a:ext cx="5303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hello-world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492240" y="54406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Si imprime «Hello from Docker!», el demonio está arriba.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Qué es un agente de IA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Un modelo recibe texto y devuelve texto. Un agente lo pone en un bucle con herramientas</a:t>
            </a:r>
            <a:endParaRPr lang="en-US" sz="1800" dirty="0"/>
          </a:p>
        </p:txBody>
      </p:sp>
      <p:sp>
        <p:nvSpPr>
          <p:cNvPr id="4" name="Bucle"/>
          <p:cNvSpPr/>
          <p:nvPr/>
        </p:nvSpPr>
        <p:spPr>
          <a:xfrm>
            <a:off x="1746504" y="2606040"/>
            <a:ext cx="3273552" cy="2377440"/>
          </a:xfrm>
          <a:prstGeom prst="ellipse">
            <a:avLst/>
          </a:prstGeom>
          <a:ln w="15875">
            <a:solidFill>
              <a:schemeClr val="accent1">
                <a:alpha val="70000"/>
              </a:schemeClr>
            </a:solidFill>
            <a:prstDash val="dash"/>
          </a:ln>
        </p:spPr>
      </p:sp>
      <p:sp>
        <p:nvSpPr>
          <p:cNvPr id="5" name="Bucle Objetivo fondo"/>
          <p:cNvSpPr/>
          <p:nvPr/>
        </p:nvSpPr>
        <p:spPr>
          <a:xfrm>
            <a:off x="2971800" y="2103120"/>
            <a:ext cx="822960" cy="82296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6" name="Bucle Objetiv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9310" y="23006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31720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Objetivo</a:t>
            </a:r>
            <a:endParaRPr lang="en-US" sz="1500" dirty="0"/>
          </a:p>
        </p:txBody>
      </p:sp>
      <p:sp>
        <p:nvSpPr>
          <p:cNvPr id="8" name="Bucle El modelo decide fondo"/>
          <p:cNvSpPr/>
          <p:nvPr/>
        </p:nvSpPr>
        <p:spPr>
          <a:xfrm>
            <a:off x="4700016" y="3383280"/>
            <a:ext cx="822960" cy="82296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9" name="Bucle El modelo decid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526" y="3580790"/>
            <a:ext cx="427939" cy="42793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059936" y="4251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El modelo decide</a:t>
            </a:r>
            <a:endParaRPr lang="en-US" sz="1500" dirty="0"/>
          </a:p>
        </p:txBody>
      </p:sp>
      <p:sp>
        <p:nvSpPr>
          <p:cNvPr id="11" name="Bucle Llama a una herramienta fondo"/>
          <p:cNvSpPr/>
          <p:nvPr/>
        </p:nvSpPr>
        <p:spPr>
          <a:xfrm>
            <a:off x="2971800" y="4663440"/>
            <a:ext cx="822960" cy="82296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2" name="Bucle Llama a una herramient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310" y="4860950"/>
            <a:ext cx="427939" cy="4279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331720" y="5532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Llama a una herramienta</a:t>
            </a:r>
            <a:endParaRPr lang="en-US" sz="1500" dirty="0"/>
          </a:p>
        </p:txBody>
      </p:sp>
      <p:sp>
        <p:nvSpPr>
          <p:cNvPr id="14" name="Bucle Ve el resultado fondo"/>
          <p:cNvSpPr/>
          <p:nvPr/>
        </p:nvSpPr>
        <p:spPr>
          <a:xfrm>
            <a:off x="1243584" y="3383280"/>
            <a:ext cx="822960" cy="82296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5" name="Bucle Ve el resultad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094" y="3580790"/>
            <a:ext cx="427939" cy="427939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03504" y="4251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Ve el resultado</a:t>
            </a:r>
            <a:endParaRPr lang="en-US" sz="1500" dirty="0"/>
          </a:p>
        </p:txBody>
      </p:sp>
      <p:sp>
        <p:nvSpPr>
          <p:cNvPr id="17" name="Tarjeta Sus herramientas"/>
          <p:cNvSpPr/>
          <p:nvPr/>
        </p:nvSpPr>
        <p:spPr>
          <a:xfrm>
            <a:off x="6766560" y="1783080"/>
            <a:ext cx="4892040" cy="1965960"/>
          </a:xfrm>
          <a:prstGeom prst="roundRect">
            <a:avLst>
              <a:gd name="adj" fmla="val 5581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8" name="Icono Sus herramientas fondo"/>
          <p:cNvSpPr/>
          <p:nvPr/>
        </p:nvSpPr>
        <p:spPr>
          <a:xfrm>
            <a:off x="6995160" y="201168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9" name="Icono Sus herramienta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8779" y="2165299"/>
            <a:ext cx="332842" cy="33284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772400" y="198424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Sus herramientas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6995160" y="27432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Leer y escribir archivos, ejecutar comandos, buscar en el repo y las que tú añadas por MCP.</a:t>
            </a:r>
            <a:endParaRPr lang="en-US" sz="1400" dirty="0"/>
          </a:p>
        </p:txBody>
      </p:sp>
      <p:sp>
        <p:nvSpPr>
          <p:cNvPr id="22" name="Tarjeta Tu trabajo cambia"/>
          <p:cNvSpPr/>
          <p:nvPr/>
        </p:nvSpPr>
        <p:spPr>
          <a:xfrm>
            <a:off x="6766560" y="3977640"/>
            <a:ext cx="4892040" cy="2103120"/>
          </a:xfrm>
          <a:prstGeom prst="roundRect">
            <a:avLst>
              <a:gd name="adj" fmla="val 5217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23" name="Icono Tu trabajo cambia fondo"/>
          <p:cNvSpPr/>
          <p:nvPr/>
        </p:nvSpPr>
        <p:spPr>
          <a:xfrm>
            <a:off x="6995160" y="420624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24" name="Icono Tu trabajo cambia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8779" y="4359859"/>
            <a:ext cx="332842" cy="33284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772400" y="417880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Tu trabajo cambia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6995160" y="493776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Defines el objetivo, das contexto, revisas lo que hace y decides. Claude Code y OpenCode son agentes de programación.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Cuatro reglas para trabajar con un agente</a:t>
            </a:r>
            <a:endParaRPr lang="en-US" sz="3600" dirty="0"/>
          </a:p>
        </p:txBody>
      </p:sp>
      <p:sp>
        <p:nvSpPr>
          <p:cNvPr id="3" name="Tarjeta Lee el diff antes de aceptar"/>
          <p:cNvSpPr/>
          <p:nvPr/>
        </p:nvSpPr>
        <p:spPr>
          <a:xfrm>
            <a:off x="548640" y="146304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4" name="Icono Lee el diff antes de aceptar fondo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5" name="Icono Lee el diff antes de acept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8452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6420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Lee el diff antes de aceptar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El agente propone; tú decides.</a:t>
            </a:r>
            <a:endParaRPr lang="en-US" sz="1400" dirty="0"/>
          </a:p>
        </p:txBody>
      </p:sp>
      <p:sp>
        <p:nvSpPr>
          <p:cNvPr id="8" name="Tarjeta Contexto claro y corto"/>
          <p:cNvSpPr/>
          <p:nvPr/>
        </p:nvSpPr>
        <p:spPr>
          <a:xfrm>
            <a:off x="6172200" y="146304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9" name="Icono Contexto claro y corto fondo"/>
          <p:cNvSpPr/>
          <p:nvPr/>
        </p:nvSpPr>
        <p:spPr>
          <a:xfrm>
            <a:off x="6400800" y="169164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0" name="Icono Contexto claro y cort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419" y="18452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78040" y="166420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Contexto claro y corto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242316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Qué quieres, dónde está el código y cómo se prueba.</a:t>
            </a:r>
            <a:endParaRPr lang="en-US" sz="1400" dirty="0"/>
          </a:p>
        </p:txBody>
      </p:sp>
      <p:sp>
        <p:nvSpPr>
          <p:cNvPr id="13" name="Tarjeta Trabaja en git"/>
          <p:cNvSpPr/>
          <p:nvPr/>
        </p:nvSpPr>
        <p:spPr>
          <a:xfrm>
            <a:off x="548640" y="384048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4" name="Icono Trabaja en git fondo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5" name="Icono Trabaja en gi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422269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40416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Trabaja en git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8006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Un commit por paso: si rompe algo, vuelves atrás.</a:t>
            </a:r>
            <a:endParaRPr lang="en-US" sz="1400" dirty="0"/>
          </a:p>
        </p:txBody>
      </p:sp>
      <p:sp>
        <p:nvSpPr>
          <p:cNvPr id="18" name="Tarjeta Dale cómo comprobar"/>
          <p:cNvSpPr/>
          <p:nvPr/>
        </p:nvSpPr>
        <p:spPr>
          <a:xfrm>
            <a:off x="6172200" y="384048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9" name="Icono Dale cómo comprobar fondo"/>
          <p:cNvSpPr/>
          <p:nvPr/>
        </p:nvSpPr>
        <p:spPr>
          <a:xfrm>
            <a:off x="6400800" y="406908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20" name="Icono Dale cómo comproba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419" y="422269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78040" y="40416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Dale cómo comprobar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0" y="48006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Una prueba o un comando: si puede verificar, se equivoca menos.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Qué es un proveedor (provider)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Quien aloja el modelo y te da una API para llamarlo, con su URL, su clave, su cuota y su precio</a:t>
            </a:r>
            <a:endParaRPr lang="en-US" sz="1800" dirty="0"/>
          </a:p>
        </p:txBody>
      </p:sp>
      <p:sp>
        <p:nvSpPr>
          <p:cNvPr id="4" name="Proveedor OpenAI"/>
          <p:cNvSpPr/>
          <p:nvPr/>
        </p:nvSpPr>
        <p:spPr>
          <a:xfrm>
            <a:off x="548640" y="1828800"/>
            <a:ext cx="2606040" cy="594360"/>
          </a:xfrm>
          <a:prstGeom prst="roundRect">
            <a:avLst>
              <a:gd name="adj" fmla="val 46154"/>
            </a:avLst>
          </a:prstGeom>
          <a:solidFill>
            <a:schemeClr val="accent4">
              <a:alpha val="40000"/>
            </a:schemeClr>
          </a:solidFill>
          <a:ln w="6350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OpenAI</a:t>
            </a:r>
            <a:endParaRPr lang="en-US" sz="1500" dirty="0"/>
          </a:p>
        </p:txBody>
      </p:sp>
      <p:sp>
        <p:nvSpPr>
          <p:cNvPr id="6" name="Proveedor Anthropic"/>
          <p:cNvSpPr/>
          <p:nvPr/>
        </p:nvSpPr>
        <p:spPr>
          <a:xfrm>
            <a:off x="3337560" y="1828800"/>
            <a:ext cx="2606040" cy="594360"/>
          </a:xfrm>
          <a:prstGeom prst="roundRect">
            <a:avLst>
              <a:gd name="adj" fmla="val 46154"/>
            </a:avLst>
          </a:prstGeom>
          <a:solidFill>
            <a:schemeClr val="accent4">
              <a:alpha val="40000"/>
            </a:schemeClr>
          </a:solidFill>
          <a:ln w="6350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37560" y="18288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Anthropic</a:t>
            </a:r>
            <a:endParaRPr lang="en-US" sz="1500" dirty="0"/>
          </a:p>
        </p:txBody>
      </p:sp>
      <p:sp>
        <p:nvSpPr>
          <p:cNvPr id="8" name="Proveedor Google AI Studio"/>
          <p:cNvSpPr/>
          <p:nvPr/>
        </p:nvSpPr>
        <p:spPr>
          <a:xfrm>
            <a:off x="6126480" y="1828800"/>
            <a:ext cx="2606040" cy="594360"/>
          </a:xfrm>
          <a:prstGeom prst="roundRect">
            <a:avLst>
              <a:gd name="adj" fmla="val 46154"/>
            </a:avLst>
          </a:prstGeom>
          <a:solidFill>
            <a:schemeClr val="accent4">
              <a:alpha val="40000"/>
            </a:schemeClr>
          </a:solidFill>
          <a:ln w="6350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0" y="18288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Google AI Studio</a:t>
            </a:r>
            <a:endParaRPr lang="en-US" sz="1500" dirty="0"/>
          </a:p>
        </p:txBody>
      </p:sp>
      <p:sp>
        <p:nvSpPr>
          <p:cNvPr id="10" name="Proveedor OpenRouter"/>
          <p:cNvSpPr/>
          <p:nvPr/>
        </p:nvSpPr>
        <p:spPr>
          <a:xfrm>
            <a:off x="8915400" y="1828800"/>
            <a:ext cx="2606040" cy="594360"/>
          </a:xfrm>
          <a:prstGeom prst="roundRect">
            <a:avLst>
              <a:gd name="adj" fmla="val 46154"/>
            </a:avLst>
          </a:prstGeom>
          <a:solidFill>
            <a:schemeClr val="accent2"/>
          </a:solidFill>
          <a:ln w="6350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15400" y="18288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OpenRouter</a:t>
            </a:r>
            <a:endParaRPr lang="en-US" sz="1500" dirty="0"/>
          </a:p>
        </p:txBody>
      </p:sp>
      <p:sp>
        <p:nvSpPr>
          <p:cNvPr id="12" name="Proveedor OpenCode Zen"/>
          <p:cNvSpPr/>
          <p:nvPr/>
        </p:nvSpPr>
        <p:spPr>
          <a:xfrm>
            <a:off x="548640" y="2606040"/>
            <a:ext cx="2606040" cy="594360"/>
          </a:xfrm>
          <a:prstGeom prst="roundRect">
            <a:avLst>
              <a:gd name="adj" fmla="val 46154"/>
            </a:avLst>
          </a:prstGeom>
          <a:solidFill>
            <a:schemeClr val="accent4">
              <a:alpha val="40000"/>
            </a:schemeClr>
          </a:solidFill>
          <a:ln w="6350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606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OpenCode Zen</a:t>
            </a:r>
            <a:endParaRPr lang="en-US" sz="1500" dirty="0"/>
          </a:p>
        </p:txBody>
      </p:sp>
      <p:sp>
        <p:nvSpPr>
          <p:cNvPr id="14" name="Proveedor DeepSeek"/>
          <p:cNvSpPr/>
          <p:nvPr/>
        </p:nvSpPr>
        <p:spPr>
          <a:xfrm>
            <a:off x="3337560" y="2606040"/>
            <a:ext cx="2606040" cy="594360"/>
          </a:xfrm>
          <a:prstGeom prst="roundRect">
            <a:avLst>
              <a:gd name="adj" fmla="val 46154"/>
            </a:avLst>
          </a:prstGeom>
          <a:solidFill>
            <a:schemeClr val="accent4">
              <a:alpha val="40000"/>
            </a:schemeClr>
          </a:solidFill>
          <a:ln w="6350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37560" y="2606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DeepSeek</a:t>
            </a:r>
            <a:endParaRPr lang="en-US" sz="1500" dirty="0"/>
          </a:p>
        </p:txBody>
      </p:sp>
      <p:sp>
        <p:nvSpPr>
          <p:cNvPr id="16" name="Proveedor Groq"/>
          <p:cNvSpPr/>
          <p:nvPr/>
        </p:nvSpPr>
        <p:spPr>
          <a:xfrm>
            <a:off x="6126480" y="2606040"/>
            <a:ext cx="2606040" cy="594360"/>
          </a:xfrm>
          <a:prstGeom prst="roundRect">
            <a:avLst>
              <a:gd name="adj" fmla="val 46154"/>
            </a:avLst>
          </a:prstGeom>
          <a:solidFill>
            <a:schemeClr val="accent4">
              <a:alpha val="40000"/>
            </a:schemeClr>
          </a:solidFill>
          <a:ln w="6350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26480" y="2606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Groq</a:t>
            </a:r>
            <a:endParaRPr lang="en-US" sz="1500" dirty="0"/>
          </a:p>
        </p:txBody>
      </p:sp>
      <p:sp>
        <p:nvSpPr>
          <p:cNvPr id="18" name="Proveedor Ollama (tu máquina)"/>
          <p:cNvSpPr/>
          <p:nvPr/>
        </p:nvSpPr>
        <p:spPr>
          <a:xfrm>
            <a:off x="8915400" y="2606040"/>
            <a:ext cx="2606040" cy="594360"/>
          </a:xfrm>
          <a:prstGeom prst="roundRect">
            <a:avLst>
              <a:gd name="adj" fmla="val 46154"/>
            </a:avLst>
          </a:prstGeom>
          <a:solidFill>
            <a:schemeClr val="accent4">
              <a:alpha val="40000"/>
            </a:schemeClr>
          </a:solidFill>
          <a:ln w="6350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15400" y="2606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Ollama (tu máquina)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En el gateway, un proveedor son tres líneas:</a:t>
            </a:r>
            <a:endParaRPr lang="en-US" sz="1500" dirty="0"/>
          </a:p>
        </p:txBody>
      </p:sp>
      <p:sp>
        <p:nvSpPr>
          <p:cNvPr id="21" name="Bloque de código"/>
          <p:cNvSpPr/>
          <p:nvPr/>
        </p:nvSpPr>
        <p:spPr>
          <a:xfrm>
            <a:off x="548640" y="402336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0A0218">
              <a:alpha val="85000"/>
            </a:srgbClr>
          </a:solidFill>
          <a:ln w="635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133088"/>
            <a:ext cx="50292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openrouter: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base_url: https://openrouter.ai/api/v1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api_key_env: OPENROUTER_API_KEY</a:t>
            </a:r>
            <a:endParaRPr lang="en-US" sz="1400" dirty="0"/>
          </a:p>
        </p:txBody>
      </p:sp>
      <p:sp>
        <p:nvSpPr>
          <p:cNvPr id="23" name="Tarjeta OpenRouter: un agregador"/>
          <p:cNvSpPr/>
          <p:nvPr/>
        </p:nvSpPr>
        <p:spPr>
          <a:xfrm>
            <a:off x="6309360" y="3611880"/>
            <a:ext cx="5349240" cy="2148840"/>
          </a:xfrm>
          <a:prstGeom prst="roundRect">
            <a:avLst>
              <a:gd name="adj" fmla="val 5106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24" name="Icono OpenRouter: un agregador fondo"/>
          <p:cNvSpPr/>
          <p:nvPr/>
        </p:nvSpPr>
        <p:spPr>
          <a:xfrm>
            <a:off x="6537960" y="384048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25" name="Icono OpenRouter: un agregado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1579" y="3994099"/>
            <a:ext cx="332842" cy="33284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7315200" y="38130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OpenRouter: un agregador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537960" y="457200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Cientos de modelos de muchos laboratorios con una sola clave y una capa gratuita (:free) que usaremos mucho.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Qué es un modelo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La red neuronal entrenada que produce el texto: gemini-2.5-flash, claude-sonnet, nemotron…</a:t>
            </a:r>
            <a:endParaRPr lang="en-US" sz="1800" dirty="0"/>
          </a:p>
        </p:txBody>
      </p:sp>
      <p:sp>
        <p:nvSpPr>
          <p:cNvPr id="4" name="Rasgo Capacidades"/>
          <p:cNvSpPr/>
          <p:nvPr/>
        </p:nvSpPr>
        <p:spPr>
          <a:xfrm>
            <a:off x="548640" y="1828800"/>
            <a:ext cx="2057400" cy="2743200"/>
          </a:xfrm>
          <a:prstGeom prst="roundRect">
            <a:avLst>
              <a:gd name="adj" fmla="val 5333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Icono Capacidades fondo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6" name="Icono Capacidad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22110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Capacidades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461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Texto, código, razonamiento, tools, JSON, imagen, audio, PDF</a:t>
            </a:r>
            <a:endParaRPr lang="en-US" sz="1400" dirty="0"/>
          </a:p>
        </p:txBody>
      </p:sp>
      <p:sp>
        <p:nvSpPr>
          <p:cNvPr id="9" name="Rasgo Contexto"/>
          <p:cNvSpPr/>
          <p:nvPr/>
        </p:nvSpPr>
        <p:spPr>
          <a:xfrm>
            <a:off x="2788920" y="1828800"/>
            <a:ext cx="2057400" cy="2743200"/>
          </a:xfrm>
          <a:prstGeom prst="roundRect">
            <a:avLst>
              <a:gd name="adj" fmla="val 5333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0" name="Icono Contexto fondo"/>
          <p:cNvSpPr/>
          <p:nvPr/>
        </p:nvSpPr>
        <p:spPr>
          <a:xfrm>
            <a:off x="3017520" y="205740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1" name="Icono Context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139" y="22110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17520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Contexto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017520" y="32461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Cuántos tokens caben: 128 k, 1 M…</a:t>
            </a:r>
            <a:endParaRPr lang="en-US" sz="1400" dirty="0"/>
          </a:p>
        </p:txBody>
      </p:sp>
      <p:sp>
        <p:nvSpPr>
          <p:cNvPr id="14" name="Rasgo Costo"/>
          <p:cNvSpPr/>
          <p:nvPr/>
        </p:nvSpPr>
        <p:spPr>
          <a:xfrm>
            <a:off x="5029200" y="1828800"/>
            <a:ext cx="2057400" cy="2743200"/>
          </a:xfrm>
          <a:prstGeom prst="roundRect">
            <a:avLst>
              <a:gd name="adj" fmla="val 5333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5" name="Icono Costo fondo"/>
          <p:cNvSpPr/>
          <p:nvPr/>
        </p:nvSpPr>
        <p:spPr>
          <a:xfrm>
            <a:off x="5257800" y="205740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6" name="Icono Cost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419" y="22110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57800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Costo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5257800" y="32461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Por millón de tokens; los :free cuestan 0 con cuota</a:t>
            </a:r>
            <a:endParaRPr lang="en-US" sz="1400" dirty="0"/>
          </a:p>
        </p:txBody>
      </p:sp>
      <p:sp>
        <p:nvSpPr>
          <p:cNvPr id="19" name="Rasgo Velocidad"/>
          <p:cNvSpPr/>
          <p:nvPr/>
        </p:nvSpPr>
        <p:spPr>
          <a:xfrm>
            <a:off x="7269480" y="1828800"/>
            <a:ext cx="2057400" cy="2743200"/>
          </a:xfrm>
          <a:prstGeom prst="roundRect">
            <a:avLst>
              <a:gd name="adj" fmla="val 5333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20" name="Icono Velocidad fondo"/>
          <p:cNvSpPr/>
          <p:nvPr/>
        </p:nvSpPr>
        <p:spPr>
          <a:xfrm>
            <a:off x="7498080" y="205740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21" name="Icono Velocida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699" y="221101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0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Velocidad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0" y="32461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Tokens por segundo y latencia al primer token</a:t>
            </a:r>
            <a:endParaRPr lang="en-US" sz="1400" dirty="0"/>
          </a:p>
        </p:txBody>
      </p:sp>
      <p:sp>
        <p:nvSpPr>
          <p:cNvPr id="24" name="Rasgo Calidad"/>
          <p:cNvSpPr/>
          <p:nvPr/>
        </p:nvSpPr>
        <p:spPr>
          <a:xfrm>
            <a:off x="9509760" y="1828800"/>
            <a:ext cx="2057400" cy="2743200"/>
          </a:xfrm>
          <a:prstGeom prst="roundRect">
            <a:avLst>
              <a:gd name="adj" fmla="val 5333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25" name="Icono Calidad fondo"/>
          <p:cNvSpPr/>
          <p:nvPr/>
        </p:nvSpPr>
        <p:spPr>
          <a:xfrm>
            <a:off x="9738360" y="205740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26" name="Icono Calida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1979" y="221101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38360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Calidad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9738360" y="32461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Benchmarks y, sobre todo, tu telemetría</a:t>
            </a:r>
            <a:endParaRPr lang="en-US" sz="1400" dirty="0"/>
          </a:p>
        </p:txBody>
      </p:sp>
      <p:sp>
        <p:nvSpPr>
          <p:cNvPr id="29" name="Token"/>
          <p:cNvSpPr/>
          <p:nvPr/>
        </p:nvSpPr>
        <p:spPr>
          <a:xfrm>
            <a:off x="548640" y="4846320"/>
            <a:ext cx="11109960" cy="1234440"/>
          </a:xfrm>
          <a:prstGeom prst="roundRect">
            <a:avLst>
              <a:gd name="adj" fmla="val 8889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777240" y="493776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Token: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la unidad en que el modelo lee y escribe, unos ¾ de palabra. Todo se cobra y se limita en tokens. Un agente del gateway (coding, reasoning, cheap) es una cadena de modelos: si uno da 429, pasa al siguiente.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Qué son los parámetros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Van en cada petición y cambian cómo responde el mismo modelo</a:t>
            </a:r>
            <a:endParaRPr lang="en-US" sz="1800" dirty="0"/>
          </a:p>
        </p:txBody>
      </p:sp>
      <p:graphicFrame>
        <p:nvGraphicFramePr>
          <p:cNvPr id="13" name="Tabla de parámetr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1737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052E"/>
                          </a:solidFill>
                        </a:rPr>
                        <a:t>Parámetro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1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052E"/>
                          </a:solidFill>
                        </a:rPr>
                        <a:t>Qué hace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1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052E"/>
                          </a:solidFill>
                        </a:rPr>
                        <a:t>Cuándo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1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7B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temperature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7F2FF"/>
                          </a:solidFill>
                        </a:rPr>
                        <a:t>Aleatoriedad: 0 casi fijo, 1 creativo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7F2FF"/>
                          </a:solidFill>
                        </a:rPr>
                        <a:t>Código: 0.1–0.3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D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7B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top_p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7F2FF"/>
                          </a:solidFill>
                        </a:rPr>
                        <a:t>Solo los tokens que suman esa probabilidad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7F2FF"/>
                          </a:solidFill>
                        </a:rPr>
                        <a:t>No subas los dos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D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7B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max_tokens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7F2FF"/>
                          </a:solidFill>
                        </a:rPr>
                        <a:t>Tope de salida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7F2FF"/>
                          </a:solidFill>
                        </a:rPr>
                        <a:t>Cuida la cuota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D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7B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system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7F2FF"/>
                          </a:solidFill>
                        </a:rPr>
                        <a:t>Rol y estilo de toda la conversación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7F2FF"/>
                          </a:solidFill>
                        </a:rPr>
                        <a:t>Siempre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D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7B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7F2FF"/>
                          </a:solidFill>
                        </a:rPr>
                        <a:t>Funciones que el modelo puede pedir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7F2FF"/>
                          </a:solidFill>
                        </a:rPr>
                        <a:t>Lo que hace agente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D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7B2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response_format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7F2FF"/>
                          </a:solidFill>
                        </a:rPr>
                        <a:t>Forzar JSON o un esquema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7F2FF"/>
                          </a:solidFill>
                        </a:rPr>
                        <a:t>Si lo lee un programa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E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0D5E"/>
                    </a:solidFill>
                  </a:tcPr>
                </a:tc>
              </a:tr>
            </a:tbl>
          </a:graphicData>
        </a:graphic>
      </p:graphicFrame>
      <p:sp>
        <p:nvSpPr>
          <p:cNvPr id="5" name="Tarjeta No confundir"/>
          <p:cNvSpPr/>
          <p:nvPr/>
        </p:nvSpPr>
        <p:spPr>
          <a:xfrm>
            <a:off x="7863840" y="1783080"/>
            <a:ext cx="3794760" cy="4297680"/>
          </a:xfrm>
          <a:prstGeom prst="roundRect">
            <a:avLst>
              <a:gd name="adj" fmla="val 2892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6" name="Icono No confundir fondo"/>
          <p:cNvSpPr/>
          <p:nvPr/>
        </p:nvSpPr>
        <p:spPr>
          <a:xfrm>
            <a:off x="8092440" y="201168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7" name="Icono No confundi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6059" y="2165299"/>
            <a:ext cx="332842" cy="33284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869680" y="19842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No confundir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092440" y="2743200"/>
            <a:ext cx="3337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Parámetros de generación: van en la petición («baja la temperatura»).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Parámetros del modelo: los pesos que se ajustaron al entrenarlo. «Un modelo de 70 B» tiene 70 000 millones.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Qué es RTK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Rust Token Killer: recorta lo que le ENTRA al modelo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ENTRADA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Se engancha a Claude Code con un hook y comprime la salida de los comandos antes de que llegue al modelo.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Códigos de color y líneas repetidas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Resúmenes de git status o cargo build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Recorta por el medio y conserva el final, donde está el error</a:t>
            </a:r>
            <a:endParaRPr lang="en-US" sz="1600" dirty="0"/>
          </a:p>
        </p:txBody>
      </p:sp>
      <p:sp>
        <p:nvSpPr>
          <p:cNvPr id="7" name="Bloque de código"/>
          <p:cNvSpPr/>
          <p:nvPr/>
        </p:nvSpPr>
        <p:spPr>
          <a:xfrm>
            <a:off x="6400800" y="192024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0A0218">
              <a:alpha val="85000"/>
            </a:srgbClr>
          </a:solidFill>
          <a:ln w="635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029968"/>
            <a:ext cx="48920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rtk        # macOS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install --git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https://github.com/rtk-ai/rtk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jmd setup claude        # instala el hook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rtk gain                # cuánto ahorró</a:t>
            </a:r>
            <a:endParaRPr lang="en-US" sz="1400" dirty="0"/>
          </a:p>
        </p:txBody>
      </p:sp>
      <p:sp>
        <p:nvSpPr>
          <p:cNvPr id="9" name="Tarjeta También en el gateway"/>
          <p:cNvSpPr/>
          <p:nvPr/>
        </p:nvSpPr>
        <p:spPr>
          <a:xfrm>
            <a:off x="6400800" y="4389120"/>
            <a:ext cx="5257800" cy="1691640"/>
          </a:xfrm>
          <a:prstGeom prst="roundRect">
            <a:avLst>
              <a:gd name="adj" fmla="val 6486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0" name="Icono También en el gateway fondo"/>
          <p:cNvSpPr/>
          <p:nvPr/>
        </p:nvSpPr>
        <p:spPr>
          <a:xfrm>
            <a:off x="6629400" y="461772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1" name="Icono También en el gateway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3019" y="4771339"/>
            <a:ext cx="332842" cy="33284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406640" y="45902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También en el gateway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534924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savings.compress_tool_output hace lo mismo para clientes sin hooks.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Qué es caveman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Plugin de Claude Code que recorta lo que SALE del modelo</a:t>
            </a:r>
            <a:endParaRPr lang="en-US" sz="1800" dirty="0"/>
          </a:p>
        </p:txBody>
      </p:sp>
      <p:sp>
        <p:nvSpPr>
          <p:cNvPr id="4" name="Antes"/>
          <p:cNvSpPr/>
          <p:nvPr/>
        </p:nvSpPr>
        <p:spPr>
          <a:xfrm>
            <a:off x="548640" y="182880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accent6"/>
                </a:solidFill>
              </a:rPr>
              <a:t>ANTES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</a:rPr>
              <a:t>«¡Claro! Con gusto te ayudo. El problema que estás viendo probablemente se deba a que…»</a:t>
            </a:r>
            <a:endParaRPr lang="en-US" sz="1600" dirty="0"/>
          </a:p>
        </p:txBody>
      </p:sp>
      <p:sp>
        <p:nvSpPr>
          <p:cNvPr id="7" name="Después"/>
          <p:cNvSpPr/>
          <p:nvPr/>
        </p:nvSpPr>
        <p:spPr>
          <a:xfrm>
            <a:off x="6263640" y="182880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accent5"/>
                </a:solidFill>
              </a:rPr>
              <a:t>CON CAVEMAN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37744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«Bug en middleware. Expiry usa &lt; no &lt;=. Fix:»</a:t>
            </a:r>
            <a:endParaRPr lang="en-US" sz="1800" dirty="0"/>
          </a:p>
        </p:txBody>
      </p:sp>
      <p:sp>
        <p:nvSpPr>
          <p:cNvPr id="10" name="Bloque de código"/>
          <p:cNvSpPr/>
          <p:nvPr/>
        </p:nvSpPr>
        <p:spPr>
          <a:xfrm>
            <a:off x="548640" y="416052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0A0218">
              <a:alpha val="85000"/>
            </a:srgbClr>
          </a:solidFill>
          <a:ln w="635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270248"/>
            <a:ext cx="50292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jmd style full   # para todos los clientes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jmd stats        # tokens por estilo</a:t>
            </a:r>
            <a:endParaRPr lang="en-US" sz="1400" dirty="0"/>
          </a:p>
        </p:txBody>
      </p:sp>
      <p:sp>
        <p:nvSpPr>
          <p:cNvPr id="12" name="Tarjeta Uno solo, no los dos"/>
          <p:cNvSpPr/>
          <p:nvPr/>
        </p:nvSpPr>
        <p:spPr>
          <a:xfrm>
            <a:off x="6263640" y="4160520"/>
            <a:ext cx="5394960" cy="1920240"/>
          </a:xfrm>
          <a:prstGeom prst="roundRect">
            <a:avLst>
              <a:gd name="adj" fmla="val 5714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3" name="Icono Uno solo, no los dos fondo"/>
          <p:cNvSpPr/>
          <p:nvPr/>
        </p:nvSpPr>
        <p:spPr>
          <a:xfrm>
            <a:off x="6492240" y="438912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4" name="Icono Uno solo, no los do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859" y="4542739"/>
            <a:ext cx="332842" cy="33284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269480" y="4361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Uno solo, no los dos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5120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Si tienes el plugin y el estilo del gateway, el recorte se aplica dos veces. jmd status te avisa.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Qué es MCP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Model Context Protocol: un estándar abierto para conectar agentes con herramientas y datos</a:t>
            </a:r>
            <a:endParaRPr lang="en-US" sz="1800" dirty="0"/>
          </a:p>
        </p:txBody>
      </p:sp>
      <p:sp>
        <p:nvSpPr>
          <p:cNvPr id="4" name="Cliente MCP fondo"/>
          <p:cNvSpPr/>
          <p:nvPr/>
        </p:nvSpPr>
        <p:spPr>
          <a:xfrm>
            <a:off x="822960" y="2103120"/>
            <a:ext cx="1188720" cy="118872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5" name="Cliente MC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3" y="2388413"/>
            <a:ext cx="618134" cy="6181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Cliente MCP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Claude Code, OpenCode, Cursor</a:t>
            </a:r>
            <a:endParaRPr lang="en-US" sz="1200" dirty="0"/>
          </a:p>
        </p:txBody>
      </p:sp>
      <p:sp>
        <p:nvSpPr>
          <p:cNvPr id="8" name="JSON-RPC"/>
          <p:cNvSpPr/>
          <p:nvPr/>
        </p:nvSpPr>
        <p:spPr>
          <a:xfrm>
            <a:off x="2514600" y="2514600"/>
            <a:ext cx="1371600" cy="411480"/>
          </a:xfrm>
          <a:prstGeom prst="left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377440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JSON-RPC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stdio o HTTP</a:t>
            </a:r>
            <a:endParaRPr lang="en-US" sz="1200" dirty="0"/>
          </a:p>
        </p:txBody>
      </p:sp>
      <p:sp>
        <p:nvSpPr>
          <p:cNvPr id="10" name="Servidor MCP fondo"/>
          <p:cNvSpPr/>
          <p:nvPr/>
        </p:nvSpPr>
        <p:spPr>
          <a:xfrm>
            <a:off x="4023360" y="2103120"/>
            <a:ext cx="1188720" cy="118872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1" name="Servidor MC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653" y="2388413"/>
            <a:ext cx="618134" cy="61813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Servidor MCP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GitHub, base de datos, el LMS</a:t>
            </a:r>
            <a:endParaRPr lang="en-US" sz="1200" dirty="0"/>
          </a:p>
        </p:txBody>
      </p:sp>
      <p:sp>
        <p:nvSpPr>
          <p:cNvPr id="14" name="MCP Tools"/>
          <p:cNvSpPr/>
          <p:nvPr/>
        </p:nvSpPr>
        <p:spPr>
          <a:xfrm>
            <a:off x="6172200" y="1783080"/>
            <a:ext cx="5486400" cy="777240"/>
          </a:xfrm>
          <a:prstGeom prst="roundRect">
            <a:avLst>
              <a:gd name="adj" fmla="val 14118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00800" y="17830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Tools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Funciones que el agente llama: submit_assignment</a:t>
            </a:r>
            <a:endParaRPr lang="en-US" sz="1500" dirty="0"/>
          </a:p>
        </p:txBody>
      </p:sp>
      <p:sp>
        <p:nvSpPr>
          <p:cNvPr id="16" name="MCP Resources"/>
          <p:cNvSpPr/>
          <p:nvPr/>
        </p:nvSpPr>
        <p:spPr>
          <a:xfrm>
            <a:off x="6172200" y="2697480"/>
            <a:ext cx="5486400" cy="777240"/>
          </a:xfrm>
          <a:prstGeom prst="roundRect">
            <a:avLst>
              <a:gd name="adj" fmla="val 14118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400800" y="26974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Resources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Datos por URI: lms://lesson/pa-01</a:t>
            </a:r>
            <a:endParaRPr lang="en-US" sz="1500" dirty="0"/>
          </a:p>
        </p:txBody>
      </p:sp>
      <p:sp>
        <p:nvSpPr>
          <p:cNvPr id="18" name="MCP Prompts"/>
          <p:cNvSpPr/>
          <p:nvPr/>
        </p:nvSpPr>
        <p:spPr>
          <a:xfrm>
            <a:off x="6172200" y="3611880"/>
            <a:ext cx="5486400" cy="777240"/>
          </a:xfrm>
          <a:prstGeom prst="roundRect">
            <a:avLst>
              <a:gd name="adj" fmla="val 14118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00800" y="36118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Prompts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Plantillas: «revisa este PR con la guía»</a:t>
            </a:r>
            <a:endParaRPr lang="en-US" sz="1500" dirty="0"/>
          </a:p>
        </p:txBody>
      </p:sp>
      <p:sp>
        <p:nvSpPr>
          <p:cNvPr id="20" name="Bloque de código"/>
          <p:cNvSpPr/>
          <p:nvPr/>
        </p:nvSpPr>
        <p:spPr>
          <a:xfrm>
            <a:off x="548640" y="466344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0A0218">
              <a:alpha val="85000"/>
            </a:srgbClr>
          </a:solidFill>
          <a:ln w="635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31520" y="4773168"/>
            <a:ext cx="10744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--transport http lms https://jmd-learn.online/mcp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github -- npx -y @modelcontextprotocol/server-github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Qué es una skill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Una carpeta con un SKILL.md que enseña al agente a hacer algo concreto</a:t>
            </a:r>
            <a:endParaRPr lang="en-US" sz="1800" dirty="0"/>
          </a:p>
        </p:txBody>
      </p:sp>
      <p:sp>
        <p:nvSpPr>
          <p:cNvPr id="4" name="Bloque de código"/>
          <p:cNvSpPr/>
          <p:nvPr/>
        </p:nvSpPr>
        <p:spPr>
          <a:xfrm>
            <a:off x="548640" y="182880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0A0218">
              <a:alpha val="85000"/>
            </a:srgbClr>
          </a:solidFill>
          <a:ln w="635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38528"/>
            <a:ext cx="502920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.claude/skills/saludo/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SKILL.md        ← name + description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scripts/        ← opcional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references/     ← opcional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26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Proyecto: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.claude/skills/&lt;nombre&gt;/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566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Usuario: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~/.claude/skills/&lt;nombre&gt;/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58698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Plugin: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 varias skills juntas</a:t>
            </a:r>
            <a:endParaRPr lang="en-US" sz="1400" dirty="0"/>
          </a:p>
        </p:txBody>
      </p:sp>
      <p:sp>
        <p:nvSpPr>
          <p:cNvPr id="9" name="Tarjeta Contexto bajo demanda"/>
          <p:cNvSpPr/>
          <p:nvPr/>
        </p:nvSpPr>
        <p:spPr>
          <a:xfrm>
            <a:off x="6309360" y="1828800"/>
            <a:ext cx="5349240" cy="4251960"/>
          </a:xfrm>
          <a:prstGeom prst="roundRect">
            <a:avLst>
              <a:gd name="adj" fmla="val 2581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0" name="Icono Contexto bajo demanda fondo"/>
          <p:cNvSpPr/>
          <p:nvPr/>
        </p:nvSpPr>
        <p:spPr>
          <a:xfrm>
            <a:off x="6537960" y="205740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1" name="Icono Contexto bajo demand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1579" y="2211019"/>
            <a:ext cx="332842" cy="33284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315200" y="20299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Contexto bajo demanda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2788920"/>
            <a:ext cx="4892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1. Al inicio, el agente solo lee name y description de cada skill.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2. Si tu pedido encaja con una descripción, carga el SKILL.md completo.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3. Solo entonces lee los archivos que referencia.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Puedes tener cien skills instaladas sin gastar tokens. Se invocan solas o a mano con /nombre.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Ejemplos de skills</a:t>
            </a:r>
            <a:endParaRPr lang="en-US" sz="3600" dirty="0"/>
          </a:p>
        </p:txBody>
      </p:sp>
      <p:sp>
        <p:nvSpPr>
          <p:cNvPr id="3" name="Tarjeta saludo"/>
          <p:cNvSpPr/>
          <p:nvPr/>
        </p:nvSpPr>
        <p:spPr>
          <a:xfrm>
            <a:off x="548640" y="1463040"/>
            <a:ext cx="5440680" cy="1737360"/>
          </a:xfrm>
          <a:prstGeom prst="roundRect">
            <a:avLst>
              <a:gd name="adj" fmla="val 6316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4" name="Icono saludo fondo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5" name="Icono salud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8452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6420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saludo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Saluda por el nombre y dice qué clase toca, leyendo clases.md. Es la de la tarea.</a:t>
            </a:r>
            <a:endParaRPr lang="en-US" sz="1400" dirty="0"/>
          </a:p>
        </p:txBody>
      </p:sp>
      <p:sp>
        <p:nvSpPr>
          <p:cNvPr id="8" name="Tarjeta commit"/>
          <p:cNvSpPr/>
          <p:nvPr/>
        </p:nvSpPr>
        <p:spPr>
          <a:xfrm>
            <a:off x="6172200" y="1463040"/>
            <a:ext cx="5440680" cy="1737360"/>
          </a:xfrm>
          <a:prstGeom prst="roundRect">
            <a:avLst>
              <a:gd name="adj" fmla="val 6316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9" name="Icono commit fondo"/>
          <p:cNvSpPr/>
          <p:nvPr/>
        </p:nvSpPr>
        <p:spPr>
          <a:xfrm>
            <a:off x="6400800" y="169164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0" name="Icono commi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419" y="18452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78040" y="166420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commit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24231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Conventional Commits en español e imperativo; muestra el mensaje antes de ejecutar.</a:t>
            </a:r>
            <a:endParaRPr lang="en-US" sz="1400" dirty="0"/>
          </a:p>
        </p:txBody>
      </p:sp>
      <p:sp>
        <p:nvSpPr>
          <p:cNvPr id="13" name="Tarjeta revisar-pr"/>
          <p:cNvSpPr/>
          <p:nvPr/>
        </p:nvSpPr>
        <p:spPr>
          <a:xfrm>
            <a:off x="548640" y="3429000"/>
            <a:ext cx="5440680" cy="1737360"/>
          </a:xfrm>
          <a:prstGeom prst="roundRect">
            <a:avLst>
              <a:gd name="adj" fmla="val 6316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4" name="Icono revisar-pr fondo"/>
          <p:cNvSpPr/>
          <p:nvPr/>
        </p:nvSpPr>
        <p:spPr>
          <a:xfrm>
            <a:off x="777240" y="365760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5" name="Icono revisar-p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381121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6301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revisar-pr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3891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Revisa un PR con la guía GUIA.md y señala archivo:línea.</a:t>
            </a:r>
            <a:endParaRPr lang="en-US" sz="1400" dirty="0"/>
          </a:p>
        </p:txBody>
      </p:sp>
      <p:sp>
        <p:nvSpPr>
          <p:cNvPr id="18" name="Tarjeta landing-editorial"/>
          <p:cNvSpPr/>
          <p:nvPr/>
        </p:nvSpPr>
        <p:spPr>
          <a:xfrm>
            <a:off x="6172200" y="3429000"/>
            <a:ext cx="5440680" cy="1737360"/>
          </a:xfrm>
          <a:prstGeom prst="roundRect">
            <a:avLst>
              <a:gd name="adj" fmla="val 6316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9" name="Icono landing-editorial fondo"/>
          <p:cNvSpPr/>
          <p:nvPr/>
        </p:nvSpPr>
        <p:spPr>
          <a:xfrm>
            <a:off x="6400800" y="3657600"/>
            <a:ext cx="640080" cy="64008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20" name="Icono landing-editorial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419" y="381121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78040" y="36301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landing-editorial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0" y="43891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Adjunta en el LMS (skills.zip): landings con tokens, animaciones y scroll guiado.</a:t>
            </a:r>
            <a:endParaRPr lang="en-US" sz="1400" dirty="0"/>
          </a:p>
        </p:txBody>
      </p:sp>
      <p:sp>
        <p:nvSpPr>
          <p:cNvPr id="23" name="Bloque de código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0667"/>
            </a:avLst>
          </a:prstGeom>
          <a:solidFill>
            <a:srgbClr val="0A0218">
              <a:alpha val="85000"/>
            </a:srgbClr>
          </a:solidFill>
          <a:ln w="635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31520" y="5550408"/>
            <a:ext cx="10744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saludo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Saluda al alumno por su nombre… Úsala cuando pidan «salúdame».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Tarea 1 · Tu entorno listo y tu primera skill</a:t>
            </a:r>
            <a:endParaRPr lang="en-US" sz="3600" dirty="0"/>
          </a:p>
        </p:txBody>
      </p:sp>
      <p:sp>
        <p:nvSpPr>
          <p:cNvPr id="3" name="Paso tarea 1"/>
          <p:cNvSpPr/>
          <p:nvPr/>
        </p:nvSpPr>
        <p:spPr>
          <a:xfrm>
            <a:off x="548640" y="155448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</a:t>
            </a:r>
            <a:endParaRPr lang="en-US" sz="4000" dirty="0"/>
          </a:p>
        </p:txBody>
      </p:sp>
      <p:sp>
        <p:nvSpPr>
          <p:cNvPr id="5" name="Icono tarea 1 fondo"/>
          <p:cNvSpPr/>
          <p:nvPr/>
        </p:nvSpPr>
        <p:spPr>
          <a:xfrm>
            <a:off x="2240280" y="1783080"/>
            <a:ext cx="685800" cy="68580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6" name="Icono tarea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4872" y="19476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Instala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546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VS Code, Docker y jmd; conecta un agente</a:t>
            </a:r>
            <a:endParaRPr lang="en-US" sz="1400" dirty="0"/>
          </a:p>
        </p:txBody>
      </p:sp>
      <p:sp>
        <p:nvSpPr>
          <p:cNvPr id="9" name="Paso tarea 2"/>
          <p:cNvSpPr/>
          <p:nvPr/>
        </p:nvSpPr>
        <p:spPr>
          <a:xfrm>
            <a:off x="3364992" y="155448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93592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</a:t>
            </a:r>
            <a:endParaRPr lang="en-US" sz="4000" dirty="0"/>
          </a:p>
        </p:txBody>
      </p:sp>
      <p:sp>
        <p:nvSpPr>
          <p:cNvPr id="11" name="Icono tarea 2 fondo"/>
          <p:cNvSpPr/>
          <p:nvPr/>
        </p:nvSpPr>
        <p:spPr>
          <a:xfrm>
            <a:off x="5056632" y="1783080"/>
            <a:ext cx="685800" cy="68580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2" name="Icono tarea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224" y="194767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93592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Repo clase-01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93592" y="31546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EVIDENCIA.md con code --version, hello-world, jmd status y captura del agente</a:t>
            </a:r>
            <a:endParaRPr lang="en-US" sz="1400" dirty="0"/>
          </a:p>
        </p:txBody>
      </p:sp>
      <p:sp>
        <p:nvSpPr>
          <p:cNvPr id="15" name="Paso tarea 3"/>
          <p:cNvSpPr/>
          <p:nvPr/>
        </p:nvSpPr>
        <p:spPr>
          <a:xfrm>
            <a:off x="6181344" y="155448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409944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</a:t>
            </a:r>
            <a:endParaRPr lang="en-US" sz="4000" dirty="0"/>
          </a:p>
        </p:txBody>
      </p:sp>
      <p:sp>
        <p:nvSpPr>
          <p:cNvPr id="17" name="Icono tarea 3 fondo"/>
          <p:cNvSpPr/>
          <p:nvPr/>
        </p:nvSpPr>
        <p:spPr>
          <a:xfrm>
            <a:off x="7872984" y="1783080"/>
            <a:ext cx="685800" cy="68580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8" name="Icono tarea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194767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9944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Tu skill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409944" y="31546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.claude/skills/saludo/SKILL.md</a:t>
            </a:r>
            <a:endParaRPr lang="en-US" sz="1400" dirty="0"/>
          </a:p>
        </p:txBody>
      </p:sp>
      <p:sp>
        <p:nvSpPr>
          <p:cNvPr id="21" name="Paso tarea 4"/>
          <p:cNvSpPr/>
          <p:nvPr/>
        </p:nvSpPr>
        <p:spPr>
          <a:xfrm>
            <a:off x="8997696" y="155448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9226296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4</a:t>
            </a:r>
            <a:endParaRPr lang="en-US" sz="4000" dirty="0"/>
          </a:p>
        </p:txBody>
      </p:sp>
      <p:sp>
        <p:nvSpPr>
          <p:cNvPr id="23" name="Icono tarea 4 fondo"/>
          <p:cNvSpPr/>
          <p:nvPr/>
        </p:nvSpPr>
        <p:spPr>
          <a:xfrm>
            <a:off x="10689336" y="1783080"/>
            <a:ext cx="685800" cy="685800"/>
          </a:xfrm>
          <a:prstGeom prst="ellipse">
            <a:avLst/>
          </a:prstGeom>
          <a:solidFill>
            <a:schemeClr val="tx2">
              <a:alpha val="9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24" name="Icono tarea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3928" y="1947672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26296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Entrega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9226296" y="31546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URL + commit desde el LMS o jmd submit tarea-01</a:t>
            </a:r>
            <a:endParaRPr lang="en-US" sz="1400" dirty="0"/>
          </a:p>
        </p:txBody>
      </p:sp>
      <p:sp>
        <p:nvSpPr>
          <p:cNvPr id="27" name="LMS"/>
          <p:cNvSpPr/>
          <p:nvPr/>
        </p:nvSpPr>
        <p:spPr>
          <a:xfrm>
            <a:off x="548640" y="5120640"/>
            <a:ext cx="11109960" cy="960120"/>
          </a:xfrm>
          <a:prstGeom prst="roundRect">
            <a:avLst>
              <a:gd name="adj" fmla="val 11429"/>
            </a:avLst>
          </a:prstGeom>
          <a:solidFill>
            <a:schemeClr val="accent4">
              <a:alpha val="28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77240" y="51206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En el LMS: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marca cada paso del ciclo de aprendizaje, publica tus dudas en «Preguntas» y mira tu nota en «Mis notas». jmd-learn.online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9776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Nos vemos en la clase 2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4892040"/>
            <a:ext cx="94183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Trae el entorno listo: construiremos un proyecto con el agente, en git, desde cero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MD Morado Campeón">
  <a:themeElements>
    <a:clrScheme name="JMD Morado Campeón">
      <a:dk1>
        <a:srgbClr val="16052E"/>
      </a:dk1>
      <a:lt1>
        <a:srgbClr val="F7F2FF"/>
      </a:lt1>
      <a:dk2>
        <a:srgbClr val="2E0D5E"/>
      </a:dk2>
      <a:lt2>
        <a:srgbClr val="C3B5E3"/>
      </a:lt2>
      <a:accent1>
        <a:srgbClr val="C7B2FF"/>
      </a:accent1>
      <a:accent2>
        <a:srgbClr val="F2C14E"/>
      </a:accent2>
      <a:accent3>
        <a:srgbClr val="8FB8FF"/>
      </a:accent3>
      <a:accent4>
        <a:srgbClr val="6A35C9"/>
      </a:accent4>
      <a:accent5>
        <a:srgbClr val="7FE0A8"/>
      </a:accent5>
      <a:accent6>
        <a:srgbClr val="FF8FA3"/>
      </a:accent6>
      <a:hlink>
        <a:srgbClr val="F2C14E"/>
      </a:hlink>
      <a:folHlink>
        <a:srgbClr val="C7B2FF"/>
      </a:folHlink>
    </a:clrScheme>
    <a:fontScheme name="JMD Morado Campeó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 · Instalar las herramientas y entender qué hay detrás</dc:title>
  <dc:subject>PptxGenJS Presentation</dc:subject>
  <dc:creator>JMD · Programación agéntica</dc:creator>
  <cp:lastModifiedBy>JMD · Programación agéntica</cp:lastModifiedBy>
  <cp:revision>1</cp:revision>
  <dcterms:created xsi:type="dcterms:W3CDTF">2026-10-09T02:23:46Z</dcterms:created>
  <dcterms:modified xsi:type="dcterms:W3CDTF">2026-10-09T02:23:46Z</dcterms:modified>
</cp:coreProperties>
</file>