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</p:sldIdLst>
  <p:notesMasterIdLst>
    <p:notesMasterId r:id="rId2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Apertura" id="{ac9f487f-8f96-73bd-12ac-80fb96c72faa}">
          <p14:sldIdLst>
            <p14:sldId id="256"/>
            <p14:sldId id="257"/>
          </p14:sldIdLst>
        </p14:section>
        <p14:section name="Estilo y Willie" id="{4a6a60ce-c46a-7ad1-cd70-005e6e1ae5db}">
          <p14:sldIdLst>
            <p14:sldId id="258"/>
            <p14:sldId id="259"/>
          </p14:sldIdLst>
        </p14:section>
        <p14:section name="Abierto y gratis" id="{5d6c3c2d-028d-71a9-8039-beb27f39303e}">
          <p14:sldIdLst>
            <p14:sldId id="260"/>
            <p14:sldId id="261"/>
            <p14:sldId id="262"/>
          </p14:sldIdLst>
        </p14:section>
        <p14:section name="Cinemática" id="{d55c94a4-755a-4ed3-8869-f7e19fb614ab}">
          <p14:sldIdLst>
            <p14:sldId id="263"/>
            <p14:sldId id="264"/>
            <p14:sldId id="265"/>
            <p14:sldId id="266"/>
            <p14:sldId id="267"/>
            <p14:sldId id="268"/>
          </p14:sldIdLst>
        </p14:section>
        <p14:section name="El pedido" id="{4a341fad-c63f-1cd5-3e66-fcf89bbe504a}">
          <p14:sldIdLst>
            <p14:sldId id="269"/>
            <p14:sldId id="270"/>
          </p14:sldIdLst>
        </p14:section>
        <p14:section name="Skills y herramientas" id="{3fcad91e-fd01-688c-2f54-fa5d3b144c8f}">
          <p14:sldIdLst>
            <p14:sldId id="271"/>
            <p14:sldId id="272"/>
            <p14:sldId id="273"/>
            <p14:sldId id="274"/>
          </p14:sldIdLst>
        </p14:section>
        <p14:section name="Construir" id="{31c9e7ae-2fd5-e1f2-7b8d-63072c082638}">
          <p14:sldIdLst>
            <p14:sldId id="275"/>
            <p14:sldId id="276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notesMaster" Target="notesMasters/notesMaster1.xml"/><Relationship Id="rId24" Type="http://schemas.openxmlformats.org/officeDocument/2006/relationships/presProps" Target="presProps.xml"/><Relationship Id="rId25" Type="http://schemas.openxmlformats.org/officeDocument/2006/relationships/viewProps" Target="viewProps.xml"/><Relationship Id="rId26" Type="http://schemas.openxmlformats.org/officeDocument/2006/relationships/theme" Target="theme/theme1.xml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Portada. Hoy es la sesión 1 del taller. El hilo práctico de toda la sesión es una pieza animada de 20 s con Willie (Steamboat Willie, 1928, dominio público) hecha solo con HTML, CSS y SVG. Con ella aprendemos a pedir bien (seis partes), a nombrar cámara, profundidad y principios de animación, y a trabajar con herramientas abiertas y capas gratuitas.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Agenda de 75 minutos: 0-5 ver la pieza y el entregable; 5-12 el estilo y por qué Willie; 12-20 por qué abierto y no Sora ni Seedance; 20-32 cámara, profundidad y principios; 32-42 el pedido en seis partes; 42-50 skills y herramientas; 50-66 construir Willie y empezar tu pieza; 66-71 revisar y corregir; 71-75 cierre y Lo logré.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Fuentes (verificadas por búsqueda el 22-10-2026): Wikipedia «Hard to Explain» (single 25-06-2001, Is This It); dirección Roman Coppola y Johannes Gamble, The Directors Bureau; montaje de stock footage con la banda tocando. La canción va a unos 155 bpm; nuestra rejilla usa 120 para que los cortes se cuenten fácil (negra = 0,5 s). Gordon Raphael grabó la batería de Fab Moretti comprimida para que sonara a drum machine (Far Out Magazine, 2023).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Fuentes: Duke Center for the Study of the Public Domain, Public Domain Day 2024; declaración de Disney (dic 2023) de que seguirá protegiendo las versiones modernas y la marca; The Opry House (1929) introduce los guantes. Perú: DL 822, art. 54, obras audiovisuales 70 años desde la primera publicación (verificar con INDECOPI o un abogado antes de un uso comercial). Descarga legal del corto: Wikimedia Commons (1296x1080, 7:41). Casos 2024-2026: Screamboat (2025), The Mouse Trap (2024), modelo Mickey-1928 (SDXL) entrenado solo con fotogramas de 1928.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Argumentos estructurales, verificados por búsqueda el 22-10-2026. Sora: la API pública no exponía parámetro seed (OpenAI Cookbook, CometAPI). Precios API Sora 2: 0,10 US$/s 720p; Sora 2 Pro 0,30/0,50/0,70 US$/s según resolución. Un clip de 10 s 1080p Pro costaba 7 US$ antes de repetir. Cierre: anuncio 24-03-2026, app 26-04-2026, API 24-09-2026 (help.openai.com, Axios, TechCrunch, CNBC).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Sora: help.openai.com «What to know about the Sora discontinuation»; Axios, TechCrunch y CNBC del 24-03-2026; Hollywood Reporter sobre la salida de Disney; CNBC y NPR del 11-12-2025 sobre el acuerdo Disney-OpenAI; Cartoon Brew y Copyright Lately sobre la política opt-out de octubre de 2025 (Mickey, Batman y Homer bloqueados desde el día uno); países: la app llegó a Perú y a varios países de la región a fines de 2025, nunca a Brasil ni a la UE. Seedance: seed.bytedance.com (lanzamiento 2.0); Hollywood Reporter y Variety sobre la carta de la MPA (20-02-2026); Variety sobre SAG-AFTRA; SCMP, The Next Web y heise sobre los filtros y marcas de agua de marzo; Hollywood Reporter y newsroom.tiktok.com sobre el memorando MPA-ByteDance del 17-08-2026; precios: ai.byteplus.com ModelArk. Disponibilidad en Perú de CapCut con Seedance: no confirmada. Nadie documentó si generaban al Willie de 1928; como el Mickey moderno estaba bloqueado por nombre, lo probable es que también.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Cálculos del taller sobre precios públicos verificados el 22-10-2026: Sora 2 Pro 0,70 US$/s a 1080p (framesurfer, CometAPI, consistentes con el Cookbook de OpenAI); Seedance 2.0 0,37 US$/s a 1080p en BytePlus ModelArk; RTX 4090 comunitaria en RunPod 0,34 US$/h (Spheron 2026); Wan 2.2 14B tarda de 4 a 9 min por clip de 5 s a 720p en una 4090 (localaimaster). LoRA de estilo: musubi-tuner, DiffSynth, AI-Toolkit; 12 a 24 GB de VRAM. Kaggle: 30 h de GPU por semana con verificación por teléfono. Los precios cambian: repetir la cuenta antes de la clase si hace falta.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Vocabulario de plano: general (wide), medio (medium), primer plano (close-up). En Steamboat Willie: plano medio de Mickey al timón en la apertura, paneos siguiendo el barco, primer plano de Pete. Fuente de referencia: StudioBinder «Types of camera shot sizes».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Travelling vs zoom: el travelling mueve la cámara y cambia la relación entre capas (paralaje); el zoom cambia la lente y solo escala. Regla de 180 grados y raccord no entran hoy. Easing: CSS ease-in-out = cubic-bezier(.42,0,.58,1); GSAP power2.inOut. En la pieza, los tramos de una escena reciben --q1, --q2… ya suavizados.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Multiplane camera: Wikipedia; PetaPixel (2025) «How Disney's multiplane camera achieved the illusion of depth». La idea se enseña con la pieza: cambia los factores 0,2 / 0,6 / 1,2 y pide al agente «haz que el fondo casi no se mueva».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La silueta la generó un script de 60 líneas en Python que rasteriza círculos y rectángulos a una rejilla y la exporta como path. Los alumnos la reciben como willie.svg y la usan tal cual: el pedido dice «no la redibujes». Así el agente se concentra en el movimiento, no en el dibujo.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Los 12 principios de Thomas y Johnston (The Illusion of Life, 1981). En Steamboat Willie se ven claros aplastar y estirar, anticipación, puesta en escena, arcos, acción secundaria, timing (dictado por la música, grabada con click track), exageración y atractivo. Casi no hay slow in/slow out en 1928: el movimiento es más uniforme. Wikipedia «Twelve basic principles of animation».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Las seis reglas aparecen tal cual en la skill animacion-abierta, así el agente las aplica aunque el alumno no las recuerde. La revisión de destellos sigue la pauta WCAG 2.3.1 (no más de tres destellos por segundo); nuestro límite de 0,25 s por corte es más estricto a propósito.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La skill pedido-seis-partes hace que el agente complete lo que falta antes de construir y deje en corchetes lo que solo el alumno sabe. Versión corta para modelos pequeños (DeepSeek, Ollama): tarea, límites y comprobación.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Demostración en vivo: pegar el pedido vago en el agente y mostrar qué inventa; luego el claro. Guardar los pedidos que funcionaron en FICHA_PROMPTS.md: es parte del entregable.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OpenCode lee .claude/skills y .agents/skills además de .opencode/skills (opencode.ai/docs/skills), así que la misma carpeta sirve para los tres. En el chat: «usa las skills pedido-seis-partes y animacion-abierta» antes de pegar el prompt.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Licencias verificadas en los repositorios el 22-10-2026: ComfyUI GPL-3.0; Krita AI Diffusion GPL-3.0; Blender GPL-3.0-or-later; OpenToonz BSD-3; Pencil2D GPL-2.0; GSAP Standard No-Charge License desde abril de 2025 (Webflow); Three.js MIT; anime.js MIT; FFmpeg LGPL-2.1 (GPL con x264); Remotion: licencia propia, gratis para individuos y empresas de hasta 3 personas, 25 US$/asiento después; Motion Canvas MIT. Wan 2.2 Apache-2.0: el 5B corre en unos 8 GB con descarga de memoria en ComfyUI; Wan 2.5 en adelante solo por API. FramePack Apache-2.0 con 6 GB. LTX-2.x Community License: gratis bajo 10 M US$ de ingresos. HunyuanVideo 1.5: Tencent Hunyuan Community License, excluye UE, UK y Corea del Sur.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Fuentes: huggingface.co/docs/hub/spaces-zerogpu (anónimo 2 min, gratis 5 min, PRO 40 min al día); kaggle.com/docs/notebooks y GPU tips (30 h/semana, verificación telefónica); research.google.com/colaboratory/faq; modal.com/pricing (Starter 30 US$/mes); developers.cloudflare.com/workers-ai/platform/pricing (10.000 neuronas/día; FLUX schnell 4,80 neuronas por tile de 512); github.com/features/codespaces (120 core-hours, 15 GB); Cloudflare Pages: 500 builds/mes, 20.000 archivos. GitHub Pages prohíbe uso comercial; Vercel Hobby es solo no comercial. ai.google.dev/gemini-api/docs/pricing: Veo 3.1 sin free tier (0,05 a 0,60 US$/s).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Verificado el 22-10-2026: github.com/anthropics/skills (19 skills); github.com/remotion-dev/skills; github.com/ahujasid/mcp-for-blender (antes blender-mcp, MIT); github.com/artokun/comfyui-mcp (MIT, mantenimiento solo de errores críticos); github.com/huggingface/hf-mcp-server (endpoint https://huggingface.co/mcp); github.com/freshtechbro/claudedesignskills (MIT); fal.ai/mcp (servidor gratis, inferencia de pago). Lista curada: ComposioHQ/awesome-claude-skills, con cuidado porque mezcla skills autogeneradas.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El prompt completo está en Materiales → Prompt para ejecutar (PROMPT.md). Esta es la versión que cabe en una diapositiva. La skill animacion-abierta completa lo que aquí se abrevia. Para exportar MP4: node render.mjs willie/index.html salida.mp4 (Playwright + FFmpeg).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Cierre: Lo logré en Mi ruta; publicar una pregunta o responder una en el hilo de la sesión. Recordar que el sorteo del OpenCode Go es entre matriculados. Pedir a cada alumno que suba su captura de ?t=7 como evidencia.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ortada">
    <p:bg>
      <p:bgPr>
        <a:solidFill>
          <a:srgbClr val="1412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ido">
    <p:bg>
      <p:bgPr>
        <a:solidFill>
          <a:srgbClr val="1412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92608"/>
            <a:ext cx="8229600" cy="64008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2400" b="1" dirty="0">
                <a:solidFill>
                  <a:srgbClr val="FBF7F0"/>
                </a:solidFill>
                <a:latin typeface="Arial" pitchFamily="34" charset="0"/>
                <a:ea typeface="Arial" pitchFamily="34" charset="-122"/>
                <a:cs typeface="Arial" pitchFamily="34" charset="-120"/>
              </a:defRPr>
            </a:lvl1pPr>
          </a:lstStyle>
          <a:p>
            <a:pPr indent="0" marL="0">
              <a:buNone/>
            </a:pPr>
            <a:r>
              <a:rPr lang="en-US" sz="2400" b="1" dirty="0">
                <a:solidFill>
                  <a:srgbClr val="FBF7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Título</a:t>
            </a:r>
            <a:endParaRPr lang="en-US" sz="2400" dirty="0"/>
          </a:p>
        </p:txBody>
      </p:sp>
      <p:sp>
        <p:nvSpPr>
          <p:cNvPr id="3" name="Text 0"/>
          <p:cNvSpPr/>
          <p:nvPr/>
        </p:nvSpPr>
        <p:spPr>
          <a:xfrm>
            <a:off x="457200" y="4773168"/>
            <a:ext cx="6400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B7B4CC"/>
                </a:solidFill>
              </a:rPr>
              <a:t>¿Difícil de explicar? ¡No! · Sesión 1 · jue 22 oct 2026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73168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B7B4CC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73168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B7B4CC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slideLayout" Target="../slideLayouts/slideLayout3.xml"/><Relationship Id="rId5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slideLayout" Target="../slideLayouts/slideLayout3.xml"/><Relationship Id="rId5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image" Target="../media/image-11-4.png"/><Relationship Id="rId5" Type="http://schemas.openxmlformats.org/officeDocument/2006/relationships/slideLayout" Target="../slideLayouts/slideLayout3.xml"/><Relationship Id="rId6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1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2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57200"/>
            <a:ext cx="402336" cy="402336"/>
          </a:xfrm>
          <a:prstGeom prst="rect">
            <a:avLst/>
          </a:prstGeom>
          <a:solidFill>
            <a:srgbClr val="F4C2CF"/>
          </a:solidFill>
          <a:ln w="12700">
            <a:solidFill>
              <a:srgbClr val="F4C2C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932688" y="457200"/>
            <a:ext cx="402336" cy="402336"/>
          </a:xfrm>
          <a:prstGeom prst="rect">
            <a:avLst/>
          </a:prstGeom>
          <a:solidFill>
            <a:srgbClr val="F7D1A6"/>
          </a:solidFill>
          <a:ln w="12700">
            <a:solidFill>
              <a:srgbClr val="F7D1A6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408176" y="457200"/>
            <a:ext cx="402336" cy="402336"/>
          </a:xfrm>
          <a:prstGeom prst="rect">
            <a:avLst/>
          </a:prstGeom>
          <a:solidFill>
            <a:srgbClr val="EFE6A4"/>
          </a:solidFill>
          <a:ln w="12700">
            <a:solidFill>
              <a:srgbClr val="EFE6A4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883664" y="457200"/>
            <a:ext cx="402336" cy="402336"/>
          </a:xfrm>
          <a:prstGeom prst="rect">
            <a:avLst/>
          </a:prstGeom>
          <a:solidFill>
            <a:srgbClr val="BDE6CC"/>
          </a:solidFill>
          <a:ln w="12700">
            <a:solidFill>
              <a:srgbClr val="BDE6CC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359152" y="457200"/>
            <a:ext cx="402336" cy="402336"/>
          </a:xfrm>
          <a:prstGeom prst="rect">
            <a:avLst/>
          </a:prstGeom>
          <a:solidFill>
            <a:srgbClr val="BDD7F3"/>
          </a:solidFill>
          <a:ln w="12700">
            <a:solidFill>
              <a:srgbClr val="BDD7F3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834640" y="457200"/>
            <a:ext cx="402336" cy="402336"/>
          </a:xfrm>
          <a:prstGeom prst="rect">
            <a:avLst/>
          </a:prstGeom>
          <a:solidFill>
            <a:srgbClr val="D6C5F0"/>
          </a:solidFill>
          <a:ln w="12700">
            <a:solidFill>
              <a:srgbClr val="D6C5F0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457200" y="1143000"/>
            <a:ext cx="5760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FBF7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¿DIFÍCIL DE EXPLICAR?</a:t>
            </a:r>
            <a:endParaRPr lang="en-US" sz="3200" dirty="0"/>
          </a:p>
        </p:txBody>
      </p:sp>
      <p:sp>
        <p:nvSpPr>
          <p:cNvPr id="9" name="Text 7"/>
          <p:cNvSpPr txBox="1"/>
          <p:nvPr/>
        </p:nvSpPr>
        <p:spPr>
          <a:xfrm>
            <a:off x="457200" y="1828800"/>
            <a:ext cx="57607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200" b="1" dirty="0">
                <a:solidFill>
                  <a:srgbClr val="EFE6A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¡NO!</a:t>
            </a:r>
            <a:endParaRPr lang="en-US" sz="720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2971800"/>
            <a:ext cx="5760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FBF7F0"/>
                </a:solidFill>
              </a:rPr>
              <a:t>Sesión 1 · Del prompt al prototipo</a:t>
            </a:r>
            <a:endParaRPr lang="en-US" sz="2200" dirty="0"/>
          </a:p>
        </p:txBody>
      </p:sp>
      <p:sp>
        <p:nvSpPr>
          <p:cNvPr id="11" name="Text 9"/>
          <p:cNvSpPr txBox="1"/>
          <p:nvPr/>
        </p:nvSpPr>
        <p:spPr>
          <a:xfrm>
            <a:off x="457200" y="3429000"/>
            <a:ext cx="5760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B7B4CC"/>
                </a:solidFill>
              </a:rPr>
              <a:t>Tu primera pieza animada con IA abierta: Willie, en el estilo «Difícil de explicar».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B7B4CC"/>
                </a:solidFill>
              </a:rPr>
              <a:t>Jueves 22 de octubre de 2026 · 9:15 a 10:30 p. m. (Lima) · jmd-learn.online</a:t>
            </a:r>
            <a:endParaRPr lang="en-US" sz="1300" dirty="0"/>
          </a:p>
        </p:txBody>
      </p:sp>
      <p:pic>
        <p:nvPicPr>
          <p:cNvPr id="12" name="Image 0" descr="/tmp/claude-0/-home-user-jmd/d413a7e9-9494-54cc-a963-42ae9b39a6a5/scratchpad/build/assets/willie-hues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92240" y="640080"/>
            <a:ext cx="2194560" cy="2395728"/>
          </a:xfrm>
          <a:prstGeom prst="rect">
            <a:avLst/>
          </a:prstGeom>
        </p:spPr>
      </p:pic>
      <p:sp>
        <p:nvSpPr>
          <p:cNvPr id="13" name="Shape 10"/>
          <p:cNvSpPr/>
          <p:nvPr/>
        </p:nvSpPr>
        <p:spPr>
          <a:xfrm>
            <a:off x="6400800" y="3291840"/>
            <a:ext cx="2377440" cy="292608"/>
          </a:xfrm>
          <a:prstGeom prst="roundRect">
            <a:avLst>
              <a:gd name="adj" fmla="val 50000"/>
            </a:avLst>
          </a:prstGeom>
          <a:solidFill>
            <a:srgbClr val="EFE6A4"/>
          </a:solidFill>
          <a:ln w="12700">
            <a:solidFill>
              <a:srgbClr val="EFE6A4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6400800" y="3291840"/>
            <a:ext cx="2377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4122B"/>
                </a:solidFill>
              </a:rPr>
              <a:t>Dominio público · 1928</a:t>
            </a:r>
            <a:endParaRPr lang="en-US" sz="1000" dirty="0"/>
          </a:p>
        </p:txBody>
      </p:sp>
      <p:sp>
        <p:nvSpPr>
          <p:cNvPr id="15" name="Shape 12"/>
          <p:cNvSpPr/>
          <p:nvPr/>
        </p:nvSpPr>
        <p:spPr>
          <a:xfrm>
            <a:off x="6400800" y="3703320"/>
            <a:ext cx="2377440" cy="292608"/>
          </a:xfrm>
          <a:prstGeom prst="roundRect">
            <a:avLst>
              <a:gd name="adj" fmla="val 50000"/>
            </a:avLst>
          </a:prstGeom>
          <a:solidFill>
            <a:srgbClr val="BDE6CC"/>
          </a:solidFill>
          <a:ln w="12700">
            <a:solidFill>
              <a:srgbClr val="BDE6CC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6400800" y="3703320"/>
            <a:ext cx="2377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4122B"/>
                </a:solidFill>
              </a:rPr>
              <a:t>Hecho con HTML, CSS y SVG</a:t>
            </a:r>
            <a:endParaRPr lang="en-US" sz="1000" dirty="0"/>
          </a:p>
        </p:txBody>
      </p:sp>
      <p:sp>
        <p:nvSpPr>
          <p:cNvPr id="17" name="Shape 14"/>
          <p:cNvSpPr/>
          <p:nvPr/>
        </p:nvSpPr>
        <p:spPr>
          <a:xfrm>
            <a:off x="6400800" y="4114800"/>
            <a:ext cx="2377440" cy="292608"/>
          </a:xfrm>
          <a:prstGeom prst="roundRect">
            <a:avLst>
              <a:gd name="adj" fmla="val 50000"/>
            </a:avLst>
          </a:prstGeom>
          <a:solidFill>
            <a:srgbClr val="BDD7F3"/>
          </a:solidFill>
          <a:ln w="12700">
            <a:solidFill>
              <a:srgbClr val="BDD7F3"/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6400800" y="4114800"/>
            <a:ext cx="2377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4122B"/>
                </a:solidFill>
              </a:rPr>
              <a:t>Abierto y gratis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92608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FBF7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Hoy: tu pedido en seis partes y tu primera pieza</a:t>
            </a:r>
            <a:endParaRPr lang="en-US" sz="2400" dirty="0"/>
          </a:p>
        </p:txBody>
      </p:sp>
      <p:pic>
        <p:nvPicPr>
          <p:cNvPr id="3" name="Image 0" descr="/tmp/claude-0/-home-user-jmd/d413a7e9-9494-54cc-a963-42ae9b39a6a5/scratchpad/build/assets/frame-7.5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097280"/>
            <a:ext cx="4572000" cy="2569464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457200" y="370332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B7B4CC"/>
                </a:solidFill>
              </a:rPr>
              <a:t>«Willie, difícil de explicar» · 20 s · 9 escenas · 120 bpm · un solo archivo HTML</a:t>
            </a:r>
            <a:endParaRPr lang="en-US" sz="1000" dirty="0"/>
          </a:p>
        </p:txBody>
      </p:sp>
      <p:sp>
        <p:nvSpPr>
          <p:cNvPr id="5" name="Shape 2"/>
          <p:cNvSpPr/>
          <p:nvPr/>
        </p:nvSpPr>
        <p:spPr>
          <a:xfrm>
            <a:off x="5303520" y="1097280"/>
            <a:ext cx="3383280" cy="868680"/>
          </a:xfrm>
          <a:prstGeom prst="roundRect">
            <a:avLst>
              <a:gd name="adj" fmla="val 8421"/>
            </a:avLst>
          </a:prstGeom>
          <a:solidFill>
            <a:srgbClr val="F4C2CF"/>
          </a:solidFill>
          <a:ln w="12700">
            <a:solidFill>
              <a:srgbClr val="F4C2CF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5440680" y="1207008"/>
            <a:ext cx="3108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412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 · Vívelo (experiencia)</a:t>
            </a:r>
            <a:endParaRPr lang="en-US" sz="1300" dirty="0"/>
          </a:p>
        </p:txBody>
      </p:sp>
      <p:sp>
        <p:nvSpPr>
          <p:cNvPr id="7" name="Text 4"/>
          <p:cNvSpPr txBox="1"/>
          <p:nvPr/>
        </p:nvSpPr>
        <p:spPr>
          <a:xfrm>
            <a:off x="5440680" y="1517904"/>
            <a:ext cx="3108960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4122B"/>
                </a:solidFill>
              </a:rPr>
              <a:t>Vemos la pieza, la abrimos y la movemos con ?t=.</a:t>
            </a:r>
            <a:endParaRPr lang="en-US" sz="1100" dirty="0"/>
          </a:p>
        </p:txBody>
      </p:sp>
      <p:sp>
        <p:nvSpPr>
          <p:cNvPr id="8" name="Shape 5"/>
          <p:cNvSpPr/>
          <p:nvPr/>
        </p:nvSpPr>
        <p:spPr>
          <a:xfrm>
            <a:off x="5303520" y="2057400"/>
            <a:ext cx="3383280" cy="868680"/>
          </a:xfrm>
          <a:prstGeom prst="roundRect">
            <a:avLst>
              <a:gd name="adj" fmla="val 8421"/>
            </a:avLst>
          </a:prstGeom>
          <a:solidFill>
            <a:srgbClr val="F7D1A6"/>
          </a:solidFill>
          <a:ln w="12700">
            <a:solidFill>
              <a:srgbClr val="F7D1A6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5440680" y="2167128"/>
            <a:ext cx="3108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412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 · Reflexiona</a:t>
            </a:r>
            <a:endParaRPr lang="en-US" sz="1300" dirty="0"/>
          </a:p>
        </p:txBody>
      </p:sp>
      <p:sp>
        <p:nvSpPr>
          <p:cNvPr id="10" name="Text 7"/>
          <p:cNvSpPr txBox="1"/>
          <p:nvPr/>
        </p:nvSpPr>
        <p:spPr>
          <a:xfrm>
            <a:off x="5440680" y="2478024"/>
            <a:ext cx="3108960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4122B"/>
                </a:solidFill>
              </a:rPr>
              <a:t>Lo pedido contra lo obtenido; el segundo pedido.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5303520" y="3017520"/>
            <a:ext cx="3383280" cy="868680"/>
          </a:xfrm>
          <a:prstGeom prst="roundRect">
            <a:avLst>
              <a:gd name="adj" fmla="val 8421"/>
            </a:avLst>
          </a:prstGeom>
          <a:solidFill>
            <a:srgbClr val="BDE6CC"/>
          </a:solidFill>
          <a:ln w="12700">
            <a:solidFill>
              <a:srgbClr val="BDE6CC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5440680" y="3127248"/>
            <a:ext cx="3108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412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 · Entiende el porqué</a:t>
            </a:r>
            <a:endParaRPr lang="en-US" sz="1300" dirty="0"/>
          </a:p>
        </p:txBody>
      </p:sp>
      <p:sp>
        <p:nvSpPr>
          <p:cNvPr id="13" name="Text 10"/>
          <p:cNvSpPr txBox="1"/>
          <p:nvPr/>
        </p:nvSpPr>
        <p:spPr>
          <a:xfrm>
            <a:off x="5440680" y="3438144"/>
            <a:ext cx="3108960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4122B"/>
                </a:solidFill>
              </a:rPr>
              <a:t>Estilo, cámara, profundidad, principios; abierto y gratis.</a:t>
            </a:r>
            <a:endParaRPr lang="en-US" sz="1100" dirty="0"/>
          </a:p>
        </p:txBody>
      </p:sp>
      <p:sp>
        <p:nvSpPr>
          <p:cNvPr id="14" name="Shape 11"/>
          <p:cNvSpPr/>
          <p:nvPr/>
        </p:nvSpPr>
        <p:spPr>
          <a:xfrm>
            <a:off x="5303520" y="3977640"/>
            <a:ext cx="3383280" cy="685800"/>
          </a:xfrm>
          <a:prstGeom prst="roundRect">
            <a:avLst>
              <a:gd name="adj" fmla="val 10667"/>
            </a:avLst>
          </a:prstGeom>
          <a:solidFill>
            <a:srgbClr val="BDD7F3"/>
          </a:solidFill>
          <a:ln w="12700">
            <a:solidFill>
              <a:srgbClr val="BDD7F3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5440680" y="4087368"/>
            <a:ext cx="3108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412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 · Aplícalo</a:t>
            </a:r>
            <a:endParaRPr lang="en-US" sz="1300" dirty="0"/>
          </a:p>
        </p:txBody>
      </p:sp>
      <p:sp>
        <p:nvSpPr>
          <p:cNvPr id="16" name="Text 13"/>
          <p:cNvSpPr txBox="1"/>
          <p:nvPr/>
        </p:nvSpPr>
        <p:spPr>
          <a:xfrm>
            <a:off x="5440680" y="4398264"/>
            <a:ext cx="310896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14122B"/>
                </a:solidFill>
              </a:rPr>
              <a:t>Tu pieza de 8 a 20 s y tu ficha de prompts.</a:t>
            </a:r>
            <a:endParaRPr lang="en-US" sz="1000" dirty="0"/>
          </a:p>
        </p:txBody>
      </p:sp>
      <p:sp>
        <p:nvSpPr>
          <p:cNvPr id="17" name="Text 14"/>
          <p:cNvSpPr txBox="1"/>
          <p:nvPr/>
        </p:nvSpPr>
        <p:spPr>
          <a:xfrm>
            <a:off x="457200" y="4114800"/>
            <a:ext cx="4572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EFE6A4"/>
                </a:solidFill>
              </a:rPr>
              <a:t>Entregable: repositorio sesion-01 con willie/, mi-pieza/, FICHA_PROMPTS.md y capturas/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73168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B7B4CC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92608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FBF7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 estilo «Difícil de explicar»</a:t>
            </a:r>
            <a:endParaRPr lang="en-US" sz="2400" dirty="0"/>
          </a:p>
        </p:txBody>
      </p:sp>
      <p:pic>
        <p:nvPicPr>
          <p:cNvPr id="3" name="Image 0" descr="/tmp/claude-0/-home-user-jmd/d413a7e9-9494-54cc-a963-42ae9b39a6a5/scratchpad/build/assets/frame-4.6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097280"/>
            <a:ext cx="4206240" cy="2368296"/>
          </a:xfrm>
          <a:prstGeom prst="rect">
            <a:avLst/>
          </a:prstGeom>
        </p:spPr>
      </p:pic>
      <p:pic>
        <p:nvPicPr>
          <p:cNvPr id="4" name="Image 1" descr="/tmp/claude-0/-home-user-jmd/d413a7e9-9494-54cc-a963-42ae9b39a6a5/scratchpad/build/assets/frame-3.2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3566160"/>
            <a:ext cx="2057400" cy="1161288"/>
          </a:xfrm>
          <a:prstGeom prst="rect">
            <a:avLst/>
          </a:prstGeom>
        </p:spPr>
      </p:pic>
      <p:pic>
        <p:nvPicPr>
          <p:cNvPr id="5" name="Image 2" descr="/tmp/claude-0/-home-user-jmd/d413a7e9-9494-54cc-a963-42ae9b39a6a5/scratchpad/build/assets/frame-17.2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06040" y="3566160"/>
            <a:ext cx="2057400" cy="1161288"/>
          </a:xfrm>
          <a:prstGeom prst="rect">
            <a:avLst/>
          </a:prstGeom>
        </p:spPr>
      </p:pic>
      <p:sp>
        <p:nvSpPr>
          <p:cNvPr id="6" name="Text 1"/>
          <p:cNvSpPr txBox="1"/>
          <p:nvPr/>
        </p:nvSpPr>
        <p:spPr>
          <a:xfrm>
            <a:off x="5029200" y="109728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F4C2C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dónde viene</a:t>
            </a:r>
            <a:endParaRPr lang="en-US" sz="1400" dirty="0"/>
          </a:p>
        </p:txBody>
      </p:sp>
      <p:sp>
        <p:nvSpPr>
          <p:cNvPr id="7" name="Text 2"/>
          <p:cNvSpPr txBox="1"/>
          <p:nvPr/>
        </p:nvSpPr>
        <p:spPr>
          <a:xfrm>
            <a:off x="5029200" y="1417320"/>
            <a:ext cx="36576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FBF7F0"/>
                </a:solidFill>
              </a:rPr>
              <a:t>«Hard to Explain», The Strokes (2001). Video de Roman Coppola y Johannes Gamble: collage de metraje encontrado, la banda tocando impasible.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FBF7F0"/>
                </a:solidFill>
              </a:rPr>
              <a:t>Cortes al ritmo, repetición, color plano, grano de televisión.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FBF7F0"/>
                </a:solidFill>
              </a:rPr>
              <a:t>Batería grabada para sonar a máquina (Gordon Raphael).</a:t>
            </a:r>
            <a:endParaRPr lang="en-US" sz="1100" dirty="0"/>
          </a:p>
        </p:txBody>
      </p:sp>
      <p:sp>
        <p:nvSpPr>
          <p:cNvPr id="8" name="Text 3"/>
          <p:cNvSpPr txBox="1"/>
          <p:nvPr/>
        </p:nvSpPr>
        <p:spPr>
          <a:xfrm>
            <a:off x="5029200" y="30175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BDE6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Nuestras reglas</a:t>
            </a:r>
            <a:endParaRPr lang="en-US" sz="1400" dirty="0"/>
          </a:p>
        </p:txBody>
      </p:sp>
      <p:sp>
        <p:nvSpPr>
          <p:cNvPr id="9" name="Text 4"/>
          <p:cNvSpPr txBox="1"/>
          <p:nvPr/>
        </p:nvSpPr>
        <p:spPr>
          <a:xfrm>
            <a:off x="5029200" y="3337560"/>
            <a:ext cx="365760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FBF7F0"/>
                </a:solidFill>
              </a:rPr>
              <a:t>Fondo tinta y seis pasteles de brillo parejo: nada destella.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FBF7F0"/>
                </a:solidFill>
              </a:rPr>
              <a:t>Pulso de 120 bpm: compás 2 s, negra 0,5 s, corchea 0,25 s. Ningún corte más corto.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FBF7F0"/>
                </a:solidFill>
              </a:rPr>
              <a:t>Siluetas en bits: una rejilla de píxeles, un solo trazo, cuatro tratamientos.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FBF7F0"/>
                </a:solidFill>
              </a:rPr>
              <a:t>Nada de metraje ajeno: todo se dibuja con código.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73168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B7B4CC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92608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FBF7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Por qué Willie: dominio público desde 2024</a:t>
            </a:r>
            <a:endParaRPr lang="en-US" sz="2400" dirty="0"/>
          </a:p>
        </p:txBody>
      </p:sp>
      <p:pic>
        <p:nvPicPr>
          <p:cNvPr id="3" name="Image 0" descr="/tmp/claude-0/-home-user-jmd/d413a7e9-9494-54cc-a963-42ae9b39a6a5/scratchpad/build/assets/willie-1bi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097280"/>
            <a:ext cx="2377440" cy="2596896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3108960" y="1097280"/>
            <a:ext cx="2697480" cy="2606040"/>
          </a:xfrm>
          <a:prstGeom prst="roundRect">
            <a:avLst>
              <a:gd name="adj" fmla="val 2807"/>
            </a:avLst>
          </a:prstGeom>
          <a:solidFill>
            <a:srgbClr val="BDE6CC"/>
          </a:solidFill>
          <a:ln w="12700">
            <a:solidFill>
              <a:srgbClr val="BDE6CC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3246120" y="1207008"/>
            <a:ext cx="2423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412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Sí · el diseño de 1928</a:t>
            </a:r>
            <a:endParaRPr lang="en-US" sz="1300" dirty="0"/>
          </a:p>
        </p:txBody>
      </p:sp>
      <p:sp>
        <p:nvSpPr>
          <p:cNvPr id="6" name="Text 3"/>
          <p:cNvSpPr txBox="1"/>
          <p:nvPr/>
        </p:nvSpPr>
        <p:spPr>
          <a:xfrm>
            <a:off x="3246120" y="1517904"/>
            <a:ext cx="2423160" cy="20939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4122B"/>
                </a:solidFill>
              </a:rPr>
              <a:t>• Gorra de marinero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4122B"/>
                </a:solidFill>
              </a:rPr>
              <a:t>• Sin guantes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4122B"/>
                </a:solidFill>
              </a:rPr>
              <a:t>• Ojos de pastel (pie eyes)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4122B"/>
                </a:solidFill>
              </a:rPr>
              <a:t>• Blanco y negro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4122B"/>
                </a:solidFill>
              </a:rPr>
              <a:t>• Cuerpo de manguera (rubber hose)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4122B"/>
                </a:solidFill>
              </a:rPr>
              <a:t>• La escena del timón y el silbido</a:t>
            </a:r>
            <a:endParaRPr lang="en-US" sz="1100" dirty="0"/>
          </a:p>
        </p:txBody>
      </p:sp>
      <p:sp>
        <p:nvSpPr>
          <p:cNvPr id="7" name="Shape 4"/>
          <p:cNvSpPr/>
          <p:nvPr/>
        </p:nvSpPr>
        <p:spPr>
          <a:xfrm>
            <a:off x="5989320" y="1097280"/>
            <a:ext cx="2697480" cy="2606040"/>
          </a:xfrm>
          <a:prstGeom prst="roundRect">
            <a:avLst>
              <a:gd name="adj" fmla="val 2807"/>
            </a:avLst>
          </a:prstGeom>
          <a:solidFill>
            <a:srgbClr val="F4C2CF"/>
          </a:solidFill>
          <a:ln w="12700">
            <a:solidFill>
              <a:srgbClr val="F4C2CF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6126480" y="1207008"/>
            <a:ext cx="2423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412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· sigue protegido</a:t>
            </a:r>
            <a:endParaRPr lang="en-US" sz="1300" dirty="0"/>
          </a:p>
        </p:txBody>
      </p:sp>
      <p:sp>
        <p:nvSpPr>
          <p:cNvPr id="9" name="Text 6"/>
          <p:cNvSpPr txBox="1"/>
          <p:nvPr/>
        </p:nvSpPr>
        <p:spPr>
          <a:xfrm>
            <a:off x="6126480" y="1517904"/>
            <a:ext cx="2423160" cy="20939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4122B"/>
                </a:solidFill>
              </a:rPr>
              <a:t>• Guantes blancos (1929)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4122B"/>
                </a:solidFill>
              </a:rPr>
              <a:t>• Color, pantalón rojo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4122B"/>
                </a:solidFill>
              </a:rPr>
              <a:t>• Pupilas y cara moderna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4122B"/>
                </a:solidFill>
              </a:rPr>
              <a:t>• El Mickey de Fantasia en adelante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4122B"/>
                </a:solidFill>
              </a:rPr>
              <a:t>• «Mickey Mouse» como marca: no es un logo ni vende un producto nuestro</a:t>
            </a:r>
            <a:endParaRPr lang="en-US" sz="1100" dirty="0"/>
          </a:p>
        </p:txBody>
      </p:sp>
      <p:sp>
        <p:nvSpPr>
          <p:cNvPr id="10" name="Text 7"/>
          <p:cNvSpPr txBox="1"/>
          <p:nvPr/>
        </p:nvSpPr>
        <p:spPr>
          <a:xfrm>
            <a:off x="457200" y="384048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B7B4CC"/>
                </a:solidFill>
              </a:rPr>
              <a:t>Steamboat Willie entró al dominio público en EE. UU. el 1 de enero de 2024. En Perú, una obra audiovisual dura 70 años desde su publicación (Decreto Legislativo 822): también. Lo llamamos Willie, decimos que no está afiliado a Disney y usamos solo lo de 1928.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73168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B7B4CC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92608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FBF7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Por qué abierto, y no Sora ni Seedance</a:t>
            </a:r>
            <a:endParaRPr lang="en-US" sz="24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097280"/>
          <a:ext cx="8229600" cy="914400"/>
        </p:xfrm>
        <a:graphic>
          <a:graphicData uri="http://schemas.openxmlformats.org/drawingml/2006/table">
            <a:tbl>
              <a:tblPr/>
              <a:tblGrid>
                <a:gridCol w="1188720"/>
                <a:gridCol w="3291840"/>
                <a:gridCol w="3749040"/>
              </a:tblGrid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2E2B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2B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2B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2B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D1B3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BF7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Generador cerrado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2E2B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2B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2B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2B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D1B3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BF7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Herramientas abiertas (HTML, SVG, ComfyUI con pesos abiertos)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2E2B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2B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2B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2B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D1B38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EFE6A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Abrirlo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2E2B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2B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2B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2B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83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FBF7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Pesos cerrados: no corre en tu máquina, no se audita.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2E2B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2B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2B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2B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83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FBF7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Abres el archivo y ves por qué la escena entra en el segundo 16.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2E2B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2B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2B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2B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836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EFE6A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Repetirlo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2E2B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2B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2B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2B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22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FBF7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El mismo pedido da otro video; Sora no exponía semilla.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2E2B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2B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2B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2B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22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FBF7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El cuadro 210 es siempre el mismo cuadro.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2E2B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2B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2B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2B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22B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EFE6A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Política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2E2B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2B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2B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2B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83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FBF7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Qué personajes y países se permiten cambia sin aviso.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2E2B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2B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2B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2B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83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FBF7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Nadie bloquea a un personaje de dominio público.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2E2B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2B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2B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2B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836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EFE6A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Costo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2E2B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2B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2B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2B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22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FBF7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Por segundo, con tarjeta: Sora 2 Pro 0,70 US$/s a 1080p.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2E2B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2B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2B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2B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22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FBF7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Un HTML renderiza gratis en cualquier laptop.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2E2B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2B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2B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2B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22B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EFE6A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Aprender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2E2B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2B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2B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2B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83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FBF7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 el modelo hace el paneo, nadie aprende qué es un paneo.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2E2B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2B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2B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2B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83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FBF7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El paneo es una línea: translateX del mundo.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2E2B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2B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2B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2B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836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EFE6A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Permanencia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2E2B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2B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2B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2B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22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FBF7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Sora: 7 meses de app. Cerrada el 26-04-2026.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2E2B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2B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2B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2B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22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FBF7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HTML, CSS y SVG tienen 30 años y seguirán.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2E2B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2B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2B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2B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22B"/>
                    </a:solidFill>
                  </a:tcPr>
                </a:tc>
              </a:tr>
            </a:tbl>
          </a:graphicData>
        </a:graphic>
      </p:graphicFrame>
      <p:sp>
        <p:nvSpPr>
          <p:cNvPr id="4" name="Text 1"/>
          <p:cNvSpPr txBox="1"/>
          <p:nvPr/>
        </p:nvSpPr>
        <p:spPr>
          <a:xfrm>
            <a:off x="457200" y="406908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i="1" dirty="0">
                <a:solidFill>
                  <a:srgbClr val="B7B4CC"/>
                </a:solidFill>
              </a:rPr>
              <a:t>No es que sean malos: no sirven para aprender ni para controlar. Si alguna vez se usa uno, es para una textura suelta, y se dice.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73168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B7B4CC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92608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FBF7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Sora y Seedance: lo que pasó en 2026</a:t>
            </a:r>
            <a:endParaRPr lang="en-US" sz="24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1051560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F4C2C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OpenAI Sora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457200" y="1417320"/>
            <a:ext cx="164592" cy="164592"/>
          </a:xfrm>
          <a:prstGeom prst="ellipse">
            <a:avLst/>
          </a:prstGeom>
          <a:solidFill>
            <a:srgbClr val="F4C2CF"/>
          </a:solidFill>
          <a:ln w="12700">
            <a:solidFill>
              <a:srgbClr val="F4C2CF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31520" y="1371600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F4C2CF"/>
                </a:solidFill>
              </a:rPr>
              <a:t>30 sep 2025</a:t>
            </a:r>
            <a:endParaRPr lang="en-US" sz="1000" dirty="0"/>
          </a:p>
        </p:txBody>
      </p:sp>
      <p:sp>
        <p:nvSpPr>
          <p:cNvPr id="6" name="Text 4"/>
          <p:cNvSpPr txBox="1"/>
          <p:nvPr/>
        </p:nvSpPr>
        <p:spPr>
          <a:xfrm>
            <a:off x="1737360" y="1371600"/>
            <a:ext cx="26517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FBF7F0"/>
                </a:solidFill>
              </a:rPr>
              <a:t>Sale Sora 2 y su app (solo invitación, EE. UU. y Canadá).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457200" y="2039112"/>
            <a:ext cx="164592" cy="164592"/>
          </a:xfrm>
          <a:prstGeom prst="ellipse">
            <a:avLst/>
          </a:prstGeom>
          <a:solidFill>
            <a:srgbClr val="F4C2CF"/>
          </a:solidFill>
          <a:ln w="12700">
            <a:solidFill>
              <a:srgbClr val="F4C2CF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731520" y="1993392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F4C2CF"/>
                </a:solidFill>
              </a:rPr>
              <a:t>oct 2025</a:t>
            </a:r>
            <a:endParaRPr lang="en-US" sz="1000" dirty="0"/>
          </a:p>
        </p:txBody>
      </p:sp>
      <p:sp>
        <p:nvSpPr>
          <p:cNvPr id="9" name="Text 7"/>
          <p:cNvSpPr txBox="1"/>
          <p:nvPr/>
        </p:nvSpPr>
        <p:spPr>
          <a:xfrm>
            <a:off x="1737360" y="1993392"/>
            <a:ext cx="26517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FBF7F0"/>
                </a:solidFill>
              </a:rPr>
              <a:t>Política de exclusión para dueños de derechos; en 3 días pasa a permiso previo. Disney se excluye.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457200" y="2660904"/>
            <a:ext cx="164592" cy="164592"/>
          </a:xfrm>
          <a:prstGeom prst="ellipse">
            <a:avLst/>
          </a:prstGeom>
          <a:solidFill>
            <a:srgbClr val="F4C2CF"/>
          </a:solidFill>
          <a:ln w="12700">
            <a:solidFill>
              <a:srgbClr val="F4C2C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731520" y="2615184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F4C2CF"/>
                </a:solidFill>
              </a:rPr>
              <a:t>11 dic 2025</a:t>
            </a:r>
            <a:endParaRPr lang="en-US" sz="1000" dirty="0"/>
          </a:p>
        </p:txBody>
      </p:sp>
      <p:sp>
        <p:nvSpPr>
          <p:cNvPr id="12" name="Text 10"/>
          <p:cNvSpPr txBox="1"/>
          <p:nvPr/>
        </p:nvSpPr>
        <p:spPr>
          <a:xfrm>
            <a:off x="1737360" y="2615184"/>
            <a:ext cx="26517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FBF7F0"/>
                </a:solidFill>
              </a:rPr>
              <a:t>Disney anuncia 1.000 M US$ y licencia de 200 personajes para Sora.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457200" y="3282696"/>
            <a:ext cx="164592" cy="164592"/>
          </a:xfrm>
          <a:prstGeom prst="ellipse">
            <a:avLst/>
          </a:prstGeom>
          <a:solidFill>
            <a:srgbClr val="F4C2CF"/>
          </a:solidFill>
          <a:ln w="12700">
            <a:solidFill>
              <a:srgbClr val="F4C2CF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731520" y="3236976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F4C2CF"/>
                </a:solidFill>
              </a:rPr>
              <a:t>24 mar 2026</a:t>
            </a:r>
            <a:endParaRPr lang="en-US" sz="1000" dirty="0"/>
          </a:p>
        </p:txBody>
      </p:sp>
      <p:sp>
        <p:nvSpPr>
          <p:cNvPr id="15" name="Text 13"/>
          <p:cNvSpPr txBox="1"/>
          <p:nvPr/>
        </p:nvSpPr>
        <p:spPr>
          <a:xfrm>
            <a:off x="1737360" y="3236976"/>
            <a:ext cx="26517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FBF7F0"/>
                </a:solidFill>
              </a:rPr>
              <a:t>OpenAI anuncia que discontinúa Sora. El acuerdo con Disney no se cierra.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457200" y="3904488"/>
            <a:ext cx="164592" cy="164592"/>
          </a:xfrm>
          <a:prstGeom prst="ellipse">
            <a:avLst/>
          </a:prstGeom>
          <a:solidFill>
            <a:srgbClr val="F4C2CF"/>
          </a:solidFill>
          <a:ln w="12700">
            <a:solidFill>
              <a:srgbClr val="F4C2CF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731520" y="3858768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F4C2CF"/>
                </a:solidFill>
              </a:rPr>
              <a:t>26 abr 2026</a:t>
            </a:r>
            <a:endParaRPr lang="en-US" sz="1000" dirty="0"/>
          </a:p>
        </p:txBody>
      </p:sp>
      <p:sp>
        <p:nvSpPr>
          <p:cNvPr id="18" name="Text 16"/>
          <p:cNvSpPr txBox="1"/>
          <p:nvPr/>
        </p:nvSpPr>
        <p:spPr>
          <a:xfrm>
            <a:off x="1737360" y="3858768"/>
            <a:ext cx="26517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FBF7F0"/>
                </a:solidFill>
              </a:rPr>
              <a:t>Se apaga la app. 24 sep 2026: se apaga la API. Sin sucesor.</a:t>
            </a:r>
            <a:endParaRPr lang="en-US" sz="1000" dirty="0"/>
          </a:p>
        </p:txBody>
      </p:sp>
      <p:sp>
        <p:nvSpPr>
          <p:cNvPr id="19" name="Text 17"/>
          <p:cNvSpPr txBox="1"/>
          <p:nvPr/>
        </p:nvSpPr>
        <p:spPr>
          <a:xfrm>
            <a:off x="4754880" y="1051560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BDD7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ByteDance Seedance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4754880" y="1417320"/>
            <a:ext cx="164592" cy="164592"/>
          </a:xfrm>
          <a:prstGeom prst="ellipse">
            <a:avLst/>
          </a:prstGeom>
          <a:solidFill>
            <a:srgbClr val="BDD7F3"/>
          </a:solidFill>
          <a:ln w="12700">
            <a:solidFill>
              <a:srgbClr val="BDD7F3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5029200" y="1371600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BDD7F3"/>
                </a:solidFill>
              </a:rPr>
              <a:t>12 feb 2026</a:t>
            </a:r>
            <a:endParaRPr lang="en-US" sz="1000" dirty="0"/>
          </a:p>
        </p:txBody>
      </p:sp>
      <p:sp>
        <p:nvSpPr>
          <p:cNvPr id="22" name="Text 20"/>
          <p:cNvSpPr txBox="1"/>
          <p:nvPr/>
        </p:nvSpPr>
        <p:spPr>
          <a:xfrm>
            <a:off x="6035040" y="1371600"/>
            <a:ext cx="26517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FBF7F0"/>
                </a:solidFill>
              </a:rPr>
              <a:t>Sale Seedance 2.0: clips virales con actores y personajes de estudios.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4754880" y="2039112"/>
            <a:ext cx="164592" cy="164592"/>
          </a:xfrm>
          <a:prstGeom prst="ellipse">
            <a:avLst/>
          </a:prstGeom>
          <a:solidFill>
            <a:srgbClr val="BDD7F3"/>
          </a:solidFill>
          <a:ln w="12700">
            <a:solidFill>
              <a:srgbClr val="BDD7F3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5029200" y="1993392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BDD7F3"/>
                </a:solidFill>
              </a:rPr>
              <a:t>13 a 20 feb</a:t>
            </a:r>
            <a:endParaRPr lang="en-US" sz="1000" dirty="0"/>
          </a:p>
        </p:txBody>
      </p:sp>
      <p:sp>
        <p:nvSpPr>
          <p:cNvPr id="25" name="Text 23"/>
          <p:cNvSpPr txBox="1"/>
          <p:nvPr/>
        </p:nvSpPr>
        <p:spPr>
          <a:xfrm>
            <a:off x="6035040" y="1993392"/>
            <a:ext cx="26517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FBF7F0"/>
                </a:solidFill>
              </a:rPr>
              <a:t>Carta de cese de Disney; luego Paramount, Netflix, WBD y la MPA. SAG-AFTRA lo condena.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4754880" y="2660904"/>
            <a:ext cx="164592" cy="164592"/>
          </a:xfrm>
          <a:prstGeom prst="ellipse">
            <a:avLst/>
          </a:prstGeom>
          <a:solidFill>
            <a:srgbClr val="BDD7F3"/>
          </a:solidFill>
          <a:ln w="12700">
            <a:solidFill>
              <a:srgbClr val="BDD7F3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5029200" y="2615184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BDD7F3"/>
                </a:solidFill>
              </a:rPr>
              <a:t>mar 2026</a:t>
            </a:r>
            <a:endParaRPr lang="en-US" sz="1000" dirty="0"/>
          </a:p>
        </p:txBody>
      </p:sp>
      <p:sp>
        <p:nvSpPr>
          <p:cNvPr id="28" name="Text 26"/>
          <p:cNvSpPr txBox="1"/>
          <p:nvPr/>
        </p:nvSpPr>
        <p:spPr>
          <a:xfrm>
            <a:off x="6035040" y="2615184"/>
            <a:ext cx="26517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FBF7F0"/>
                </a:solidFill>
              </a:rPr>
              <a:t>Lanzamiento global aplazado; bloqueo de caras reales y personajes con derechos; marca de agua visible y C2PA.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4754880" y="3282696"/>
            <a:ext cx="164592" cy="164592"/>
          </a:xfrm>
          <a:prstGeom prst="ellipse">
            <a:avLst/>
          </a:prstGeom>
          <a:solidFill>
            <a:srgbClr val="BDD7F3"/>
          </a:solidFill>
          <a:ln w="12700">
            <a:solidFill>
              <a:srgbClr val="BDD7F3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5029200" y="3236976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BDD7F3"/>
                </a:solidFill>
              </a:rPr>
              <a:t>17 ago 2026</a:t>
            </a:r>
            <a:endParaRPr lang="en-US" sz="1000" dirty="0"/>
          </a:p>
        </p:txBody>
      </p:sp>
      <p:sp>
        <p:nvSpPr>
          <p:cNvPr id="31" name="Text 29"/>
          <p:cNvSpPr txBox="1"/>
          <p:nvPr/>
        </p:nvSpPr>
        <p:spPr>
          <a:xfrm>
            <a:off x="6035040" y="3236976"/>
            <a:ext cx="26517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FBF7F0"/>
                </a:solidFill>
              </a:rPr>
              <a:t>Acuerdo MPA y ByteDance sobre «salvaguardas»; sin detalles públicos.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4754880" y="3904488"/>
            <a:ext cx="164592" cy="164592"/>
          </a:xfrm>
          <a:prstGeom prst="ellipse">
            <a:avLst/>
          </a:prstGeom>
          <a:solidFill>
            <a:srgbClr val="BDD7F3"/>
          </a:solidFill>
          <a:ln w="12700">
            <a:solidFill>
              <a:srgbClr val="BDD7F3"/>
            </a:solidFill>
            <a:prstDash val="solid"/>
          </a:ln>
        </p:spPr>
      </p:sp>
      <p:sp>
        <p:nvSpPr>
          <p:cNvPr id="33" name="Text 31"/>
          <p:cNvSpPr txBox="1"/>
          <p:nvPr/>
        </p:nvSpPr>
        <p:spPr>
          <a:xfrm>
            <a:off x="5029200" y="3858768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BDD7F3"/>
                </a:solidFill>
              </a:rPr>
              <a:t>Precio</a:t>
            </a:r>
            <a:endParaRPr lang="en-US" sz="1000" dirty="0"/>
          </a:p>
        </p:txBody>
      </p:sp>
      <p:sp>
        <p:nvSpPr>
          <p:cNvPr id="34" name="Text 32"/>
          <p:cNvSpPr txBox="1"/>
          <p:nvPr/>
        </p:nvSpPr>
        <p:spPr>
          <a:xfrm>
            <a:off x="6035040" y="3858768"/>
            <a:ext cx="26517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FBF7F0"/>
                </a:solidFill>
              </a:rPr>
              <a:t>API BytePlus: 1080p a 0,37 US$/s; 720p a 0,15 US$/s. Saldo mínimo de 30 US$.</a:t>
            </a:r>
            <a:endParaRPr lang="en-US" sz="1000" dirty="0"/>
          </a:p>
        </p:txBody>
      </p:sp>
      <p:sp>
        <p:nvSpPr>
          <p:cNvPr id="35" name="Text 33"/>
          <p:cNvSpPr txBox="1"/>
          <p:nvPr/>
        </p:nvSpPr>
        <p:spPr>
          <a:xfrm>
            <a:off x="457200" y="443484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B7B4CC"/>
                </a:solidFill>
              </a:rPr>
              <a:t>Fuentes verificadas por búsqueda el 22-10-2026; están en las notas. Ambos tenían calidad excelente: el problema es de gobierno, costo y permanencia.</a:t>
            </a:r>
            <a:endParaRPr lang="en-US" sz="9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73168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B7B4CC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92608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FBF7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Qué cuesta un ejercicio de diez clips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457200" y="1097280"/>
            <a:ext cx="1920240" cy="1234440"/>
          </a:xfrm>
          <a:prstGeom prst="roundRect">
            <a:avLst>
              <a:gd name="adj" fmla="val 5926"/>
            </a:avLst>
          </a:prstGeom>
          <a:solidFill>
            <a:srgbClr val="F4C2CF"/>
          </a:solidFill>
          <a:ln w="12700">
            <a:solidFill>
              <a:srgbClr val="F4C2CF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594360" y="1207008"/>
            <a:ext cx="1645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1412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70 US$</a:t>
            </a:r>
            <a:endParaRPr lang="en-US" sz="2600" dirty="0"/>
          </a:p>
        </p:txBody>
      </p:sp>
      <p:sp>
        <p:nvSpPr>
          <p:cNvPr id="5" name="Text 3"/>
          <p:cNvSpPr txBox="1"/>
          <p:nvPr/>
        </p:nvSpPr>
        <p:spPr>
          <a:xfrm>
            <a:off x="594360" y="1847088"/>
            <a:ext cx="1645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14122B"/>
                </a:solidFill>
              </a:rPr>
              <a:t>Sora 2 Pro a 1080p: 0,70 US$/s. Diez clips de 10 s.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2560320" y="1097280"/>
            <a:ext cx="1920240" cy="1234440"/>
          </a:xfrm>
          <a:prstGeom prst="roundRect">
            <a:avLst>
              <a:gd name="adj" fmla="val 5926"/>
            </a:avLst>
          </a:prstGeom>
          <a:solidFill>
            <a:srgbClr val="F7D1A6"/>
          </a:solidFill>
          <a:ln w="12700">
            <a:solidFill>
              <a:srgbClr val="F7D1A6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2697480" y="1207008"/>
            <a:ext cx="1645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1412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37 US$</a:t>
            </a:r>
            <a:endParaRPr lang="en-US" sz="2600" dirty="0"/>
          </a:p>
        </p:txBody>
      </p:sp>
      <p:sp>
        <p:nvSpPr>
          <p:cNvPr id="8" name="Text 6"/>
          <p:cNvSpPr txBox="1"/>
          <p:nvPr/>
        </p:nvSpPr>
        <p:spPr>
          <a:xfrm>
            <a:off x="2697480" y="1847088"/>
            <a:ext cx="1645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14122B"/>
                </a:solidFill>
              </a:rPr>
              <a:t>Seedance 2.0 a 1080p por API: 0,37 US$/s.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4663440" y="1097280"/>
            <a:ext cx="1920240" cy="1234440"/>
          </a:xfrm>
          <a:prstGeom prst="roundRect">
            <a:avLst>
              <a:gd name="adj" fmla="val 5926"/>
            </a:avLst>
          </a:prstGeom>
          <a:solidFill>
            <a:srgbClr val="BDE6CC"/>
          </a:solidFill>
          <a:ln w="12700">
            <a:solidFill>
              <a:srgbClr val="BDE6CC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4800600" y="1207008"/>
            <a:ext cx="1645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1412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0,50 US$</a:t>
            </a:r>
            <a:endParaRPr lang="en-US" sz="2600" dirty="0"/>
          </a:p>
        </p:txBody>
      </p:sp>
      <p:sp>
        <p:nvSpPr>
          <p:cNvPr id="11" name="Text 9"/>
          <p:cNvSpPr txBox="1"/>
          <p:nvPr/>
        </p:nvSpPr>
        <p:spPr>
          <a:xfrm>
            <a:off x="4800600" y="1847088"/>
            <a:ext cx="1645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14122B"/>
                </a:solidFill>
              </a:rPr>
              <a:t>Wan 2.2 (Apache-2.0) en una RTX 4090 alquilada: 0,03 a 0,05 US$ por clip.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6766560" y="1097280"/>
            <a:ext cx="1920240" cy="1234440"/>
          </a:xfrm>
          <a:prstGeom prst="roundRect">
            <a:avLst>
              <a:gd name="adj" fmla="val 5926"/>
            </a:avLst>
          </a:prstGeom>
          <a:solidFill>
            <a:srgbClr val="BDD7F3"/>
          </a:solidFill>
          <a:ln w="12700">
            <a:solidFill>
              <a:srgbClr val="BDD7F3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6903720" y="1207008"/>
            <a:ext cx="1645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1412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 US$</a:t>
            </a:r>
            <a:endParaRPr lang="en-US" sz="2600" dirty="0"/>
          </a:p>
        </p:txBody>
      </p:sp>
      <p:sp>
        <p:nvSpPr>
          <p:cNvPr id="14" name="Text 12"/>
          <p:cNvSpPr txBox="1"/>
          <p:nvPr/>
        </p:nvSpPr>
        <p:spPr>
          <a:xfrm>
            <a:off x="6903720" y="1847088"/>
            <a:ext cx="1645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14122B"/>
                </a:solidFill>
              </a:rPr>
              <a:t>Nuestra pieza en HTML. O Wan en Kaggle: 30 h de GPU por semana.</a:t>
            </a:r>
            <a:endParaRPr lang="en-US" sz="1000" dirty="0"/>
          </a:p>
        </p:txBody>
      </p:sp>
      <p:sp>
        <p:nvSpPr>
          <p:cNvPr id="15" name="Text 13"/>
          <p:cNvSpPr txBox="1"/>
          <p:nvPr/>
        </p:nvSpPr>
        <p:spPr>
          <a:xfrm>
            <a:off x="457200" y="26060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EFE6A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Qué compras con lo abierto</a:t>
            </a:r>
            <a:endParaRPr lang="en-US" sz="1400" dirty="0"/>
          </a:p>
        </p:txBody>
      </p:sp>
      <p:sp>
        <p:nvSpPr>
          <p:cNvPr id="16" name="Text 14"/>
          <p:cNvSpPr txBox="1"/>
          <p:nvPr/>
        </p:nvSpPr>
        <p:spPr>
          <a:xfrm>
            <a:off x="457200" y="2926080"/>
            <a:ext cx="822960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FBF7F0"/>
                </a:solidFill>
              </a:rPr>
              <a:t>Control del cuadro: el segundo 7 es siempre el mismo segundo 7 (?t=7).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FBF7F0"/>
                </a:solidFill>
              </a:rPr>
              <a:t>Tu estilo: una LoRA de Wan 2.2 con tus propias imágenes cuesta 0 US$ en Kaggle (lento) o unos 40 a 50 US$ en una H100; con un generador cerrado no existe.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FBF7F0"/>
                </a:solidFill>
              </a:rPr>
              <a:t>Sin tarjeta para el aula: Kaggle, Hugging Face Spaces, Colab y Cloudflare Pages funcionan sin pagar.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FBF7F0"/>
                </a:solidFill>
              </a:rPr>
              <a:t>Permanencia: lo que escribes hoy se abre en diez años.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73168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B7B4CC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92608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FBF7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Cinemática: tres tamaños de plano</a:t>
            </a:r>
            <a:endParaRPr lang="en-US" sz="2400" dirty="0"/>
          </a:p>
        </p:txBody>
      </p:sp>
      <p:pic>
        <p:nvPicPr>
          <p:cNvPr id="3" name="Image 0" descr="/tmp/claude-0/-home-user-jmd/d413a7e9-9494-54cc-a963-42ae9b39a6a5/scratchpad/build/assets/frame-6.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097280"/>
            <a:ext cx="2651760" cy="1490472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457200" y="2651760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F4C2C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Plano general</a:t>
            </a:r>
            <a:endParaRPr lang="en-US" sz="1400" dirty="0"/>
          </a:p>
        </p:txBody>
      </p:sp>
      <p:sp>
        <p:nvSpPr>
          <p:cNvPr id="5" name="Text 2"/>
          <p:cNvSpPr txBox="1"/>
          <p:nvPr/>
        </p:nvSpPr>
        <p:spPr>
          <a:xfrm>
            <a:off x="457200" y="2926080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B7B4CC"/>
                </a:solidFill>
              </a:rPr>
              <a:t>Todo el escenario: dónde estamos. scale(1)</a:t>
            </a:r>
            <a:endParaRPr lang="en-US" sz="1100" dirty="0"/>
          </a:p>
        </p:txBody>
      </p:sp>
      <p:pic>
        <p:nvPicPr>
          <p:cNvPr id="6" name="Image 1" descr="/tmp/claude-0/-home-user-jmd/d413a7e9-9494-54cc-a963-42ae9b39a6a5/scratchpad/build/assets/frame-9.6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46120" y="1097280"/>
            <a:ext cx="2651760" cy="1490472"/>
          </a:xfrm>
          <a:prstGeom prst="rect">
            <a:avLst/>
          </a:prstGeom>
        </p:spPr>
      </p:pic>
      <p:sp>
        <p:nvSpPr>
          <p:cNvPr id="7" name="Text 3"/>
          <p:cNvSpPr txBox="1"/>
          <p:nvPr/>
        </p:nvSpPr>
        <p:spPr>
          <a:xfrm>
            <a:off x="3246120" y="2651760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F7D1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Plano medio</a:t>
            </a:r>
            <a:endParaRPr lang="en-US" sz="1400" dirty="0"/>
          </a:p>
        </p:txBody>
      </p:sp>
      <p:sp>
        <p:nvSpPr>
          <p:cNvPr id="8" name="Text 4"/>
          <p:cNvSpPr txBox="1"/>
          <p:nvPr/>
        </p:nvSpPr>
        <p:spPr>
          <a:xfrm>
            <a:off x="3246120" y="2926080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B7B4CC"/>
                </a:solidFill>
              </a:rPr>
              <a:t>El personaje y su acción. scale(1.8)</a:t>
            </a:r>
            <a:endParaRPr lang="en-US" sz="1100" dirty="0"/>
          </a:p>
        </p:txBody>
      </p:sp>
      <p:pic>
        <p:nvPicPr>
          <p:cNvPr id="9" name="Image 2" descr="/tmp/claude-0/-home-user-jmd/d413a7e9-9494-54cc-a963-42ae9b39a6a5/scratchpad/build/assets/frame-primer-plano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35040" y="1097280"/>
            <a:ext cx="2651760" cy="1490472"/>
          </a:xfrm>
          <a:prstGeom prst="rect">
            <a:avLst/>
          </a:prstGeom>
        </p:spPr>
      </p:pic>
      <p:sp>
        <p:nvSpPr>
          <p:cNvPr id="10" name="Text 5"/>
          <p:cNvSpPr txBox="1"/>
          <p:nvPr/>
        </p:nvSpPr>
        <p:spPr>
          <a:xfrm>
            <a:off x="6035040" y="2651760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BDE6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Primer plano</a:t>
            </a:r>
            <a:endParaRPr lang="en-US" sz="1400" dirty="0"/>
          </a:p>
        </p:txBody>
      </p:sp>
      <p:sp>
        <p:nvSpPr>
          <p:cNvPr id="11" name="Text 6"/>
          <p:cNvSpPr txBox="1"/>
          <p:nvPr/>
        </p:nvSpPr>
        <p:spPr>
          <a:xfrm>
            <a:off x="6035040" y="2926080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B7B4CC"/>
                </a:solidFill>
              </a:rPr>
              <a:t>La cara: qué siente. scale(3.2)</a:t>
            </a:r>
            <a:endParaRPr lang="en-US" sz="1100" dirty="0"/>
          </a:p>
        </p:txBody>
      </p:sp>
      <p:sp>
        <p:nvSpPr>
          <p:cNvPr id="12" name="Shape 7"/>
          <p:cNvSpPr/>
          <p:nvPr/>
        </p:nvSpPr>
        <p:spPr>
          <a:xfrm>
            <a:off x="457200" y="3566160"/>
            <a:ext cx="8229600" cy="1051560"/>
          </a:xfrm>
          <a:prstGeom prst="roundRect">
            <a:avLst>
              <a:gd name="adj" fmla="val 6957"/>
            </a:avLst>
          </a:prstGeom>
          <a:solidFill>
            <a:srgbClr val="1D1B38"/>
          </a:solidFill>
          <a:ln w="12700">
            <a:solidFill>
              <a:srgbClr val="1D1B38"/>
            </a:solidFill>
            <a:prstDash val="solid"/>
          </a:ln>
        </p:spPr>
      </p:sp>
      <p:sp>
        <p:nvSpPr>
          <p:cNvPr id="13" name="Text 8"/>
          <p:cNvSpPr txBox="1"/>
          <p:nvPr/>
        </p:nvSpPr>
        <p:spPr>
          <a:xfrm>
            <a:off x="594360" y="3675888"/>
            <a:ext cx="7955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FBF7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Cómo se pide</a:t>
            </a:r>
            <a:endParaRPr lang="en-US" sz="1300" dirty="0"/>
          </a:p>
        </p:txBody>
      </p:sp>
      <p:sp>
        <p:nvSpPr>
          <p:cNvPr id="14" name="Text 9"/>
          <p:cNvSpPr txBox="1"/>
          <p:nvPr/>
        </p:nvSpPr>
        <p:spPr>
          <a:xfrm>
            <a:off x="594360" y="3986784"/>
            <a:ext cx="7955280" cy="5394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FBF7F0"/>
                </a:solidFill>
              </a:rPr>
              <a:t>«En la escena 4, empieza en plano general, panea hacia Willie y termina en plano medio en el segundo 9,5.» El agente lo traduce a un transform sobre el mundo. Un punto focal por plano: el texto nunca compite con la figura.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73168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B7B4CC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92608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FBF7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Cámara: no existe, se mueve el mundo</a:t>
            </a:r>
            <a:endParaRPr lang="en-US" sz="2400" dirty="0"/>
          </a:p>
        </p:txBody>
      </p:sp>
      <p:pic>
        <p:nvPicPr>
          <p:cNvPr id="3" name="Image 0" descr="/tmp/claude-0/-home-user-jmd/d413a7e9-9494-54cc-a963-42ae9b39a6a5/scratchpad/build/assets/frame-7.5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097280"/>
            <a:ext cx="4023360" cy="2258568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457200" y="3401568"/>
            <a:ext cx="4023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B7B4CC"/>
                </a:solidFill>
              </a:rPr>
              <a:t>Escena 4 de la pieza, segundo 7,5: a mitad del paneo. Con ?t=7.5 la ves quieta.</a:t>
            </a:r>
            <a:endParaRPr lang="en-US" sz="10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754880" y="1097280"/>
          <a:ext cx="3931920" cy="914400"/>
        </p:xfrm>
        <a:graphic>
          <a:graphicData uri="http://schemas.openxmlformats.org/drawingml/2006/table">
            <a:tbl>
              <a:tblPr/>
              <a:tblGrid>
                <a:gridCol w="1188720"/>
                <a:gridCol w="1280160"/>
                <a:gridCol w="1463040"/>
              </a:tblGrid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BF7F0"/>
                          </a:solidFill>
                        </a:rPr>
                        <a:t>Movimiento</a:t>
                      </a:r>
                      <a:endParaRPr lang="en-US" sz="95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2E2B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2B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2B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2B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D1B3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BF7F0"/>
                          </a:solidFill>
                        </a:rPr>
                        <a:t>Qué hace</a:t>
                      </a:r>
                      <a:endParaRPr lang="en-US" sz="95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2E2B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2B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2B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2B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D1B3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BF7F0"/>
                          </a:solidFill>
                        </a:rPr>
                        <a:t>En código</a:t>
                      </a:r>
                      <a:endParaRPr lang="en-US" sz="95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2E2B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2B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2B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2B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D1B3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EFE6A4"/>
                          </a:solidFill>
                        </a:rPr>
                        <a:t>Paneo (pan)</a:t>
                      </a:r>
                      <a:endParaRPr lang="en-US" sz="95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2E2B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2B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2B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2B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83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FBF7F0"/>
                          </a:solidFill>
                        </a:rPr>
                        <a:t>Gira en horizontal</a:t>
                      </a:r>
                      <a:endParaRPr lang="en-US" sz="95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2E2B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2B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2B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2B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83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FBF7F0"/>
                          </a:solidFill>
                        </a:rPr>
                        <a:t>translateX del mundo, al revés de la mirada</a:t>
                      </a:r>
                      <a:endParaRPr lang="en-US" sz="95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2E2B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2B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2B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2B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836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EFE6A4"/>
                          </a:solidFill>
                        </a:rPr>
                        <a:t>Tilt</a:t>
                      </a:r>
                      <a:endParaRPr lang="en-US" sz="95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2E2B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2B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2B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2B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22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FBF7F0"/>
                          </a:solidFill>
                        </a:rPr>
                        <a:t>Gira en vertical</a:t>
                      </a:r>
                      <a:endParaRPr lang="en-US" sz="95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2E2B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2B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2B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2B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22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FBF7F0"/>
                          </a:solidFill>
                        </a:rPr>
                        <a:t>translateY del mundo</a:t>
                      </a:r>
                      <a:endParaRPr lang="en-US" sz="95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2E2B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2B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2B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2B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22B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EFE6A4"/>
                          </a:solidFill>
                        </a:rPr>
                        <a:t>Travelling (dolly)</a:t>
                      </a:r>
                      <a:endParaRPr lang="en-US" sz="95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2E2B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2B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2B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2B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83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FBF7F0"/>
                          </a:solidFill>
                        </a:rPr>
                        <a:t>La cámara se desplaza</a:t>
                      </a:r>
                      <a:endParaRPr lang="en-US" sz="95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2E2B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2B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2B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2B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83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FBF7F0"/>
                          </a:solidFill>
                        </a:rPr>
                        <a:t>Cambia el paralaje entre capas</a:t>
                      </a:r>
                      <a:endParaRPr lang="en-US" sz="95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2E2B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2B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2B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2B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836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EFE6A4"/>
                          </a:solidFill>
                        </a:rPr>
                        <a:t>Zoom</a:t>
                      </a:r>
                      <a:endParaRPr lang="en-US" sz="95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2E2B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2B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2B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2B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22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FBF7F0"/>
                          </a:solidFill>
                        </a:rPr>
                        <a:t>Cambia la lente</a:t>
                      </a:r>
                      <a:endParaRPr lang="en-US" sz="95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2E2B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2B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2B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2B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22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FBF7F0"/>
                          </a:solidFill>
                        </a:rPr>
                        <a:t>Solo scale(), nada cambia de lugar</a:t>
                      </a:r>
                      <a:endParaRPr lang="en-US" sz="95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2E2B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2B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2B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2B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22B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EFE6A4"/>
                          </a:solidFill>
                        </a:rPr>
                        <a:t>Corte en acción</a:t>
                      </a:r>
                      <a:endParaRPr lang="en-US" sz="95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2E2B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2B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2B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2B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83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FBF7F0"/>
                          </a:solidFill>
                        </a:rPr>
                        <a:t>Cambia de plano a medio movimiento</a:t>
                      </a:r>
                      <a:endParaRPr lang="en-US" sz="95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2E2B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2B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2B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2B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83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FBF7F0"/>
                          </a:solidFill>
                        </a:rPr>
                        <a:t>El corte cae en la negra del salto</a:t>
                      </a:r>
                      <a:endParaRPr lang="en-US" sz="95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2E2B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2B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2B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2B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836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EFE6A4"/>
                          </a:solidFill>
                        </a:rPr>
                        <a:t>Efecto Kuleshov</a:t>
                      </a:r>
                      <a:endParaRPr lang="en-US" sz="95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2E2B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2B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2B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2B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22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FBF7F0"/>
                          </a:solidFill>
                        </a:rPr>
                        <a:t>Dos planos crean un sentido nuevo</a:t>
                      </a:r>
                      <a:endParaRPr lang="en-US" sz="95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2E2B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2B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2B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2B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22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FBF7F0"/>
                          </a:solidFill>
                        </a:rPr>
                        <a:t>Willie quieto + «¿Difícil?»</a:t>
                      </a:r>
                      <a:endParaRPr lang="en-US" sz="95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2E2B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2B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2B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2B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22B"/>
                    </a:solidFill>
                  </a:tcPr>
                </a:tc>
              </a:tr>
            </a:tbl>
          </a:graphicData>
        </a:graphic>
      </p:graphicFrame>
      <p:sp>
        <p:nvSpPr>
          <p:cNvPr id="6" name="Text 2"/>
          <p:cNvSpPr txBox="1"/>
          <p:nvPr/>
        </p:nvSpPr>
        <p:spPr>
          <a:xfrm>
            <a:off x="457200" y="39319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B7B4CC"/>
                </a:solidFill>
              </a:rPr>
              <a:t>Entradas y salidas suaves: ease-in-out para lo vivo; lineal para lo mecánico (el timón). Ver easings.net.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73168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B7B4CC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92608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FBF7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Profundidad: la cámara multiplano en capas</a:t>
            </a:r>
            <a:endParaRPr lang="en-US" sz="2400" dirty="0"/>
          </a:p>
        </p:txBody>
      </p:sp>
      <p:pic>
        <p:nvPicPr>
          <p:cNvPr id="3" name="Image 0" descr="/tmp/claude-0/-home-user-jmd/d413a7e9-9494-54cc-a963-42ae9b39a6a5/scratchpad/build/assets/frame-11.5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097280"/>
            <a:ext cx="4480560" cy="2523744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5212080" y="1097280"/>
            <a:ext cx="3474720" cy="1188720"/>
          </a:xfrm>
          <a:prstGeom prst="roundRect">
            <a:avLst>
              <a:gd name="adj" fmla="val 6154"/>
            </a:avLst>
          </a:prstGeom>
          <a:solidFill>
            <a:srgbClr val="F7D1A6"/>
          </a:solidFill>
          <a:ln w="12700">
            <a:solidFill>
              <a:srgbClr val="F7D1A6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5349240" y="1207008"/>
            <a:ext cx="3200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412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Disney, 1937</a:t>
            </a:r>
            <a:endParaRPr lang="en-US" sz="1300" dirty="0"/>
          </a:p>
        </p:txBody>
      </p:sp>
      <p:sp>
        <p:nvSpPr>
          <p:cNvPr id="6" name="Text 3"/>
          <p:cNvSpPr txBox="1"/>
          <p:nvPr/>
        </p:nvSpPr>
        <p:spPr>
          <a:xfrm>
            <a:off x="5349240" y="1517904"/>
            <a:ext cx="320040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4122B"/>
                </a:solidFill>
              </a:rPr>
              <a:t>Capas de vidrio pintadas a distinta distancia de la cámara. Las lejanas se mueven poco; las cercanas, mucho. Óscar técnico a William Garity.</a:t>
            </a:r>
            <a:endParaRPr lang="en-US" sz="1100" dirty="0"/>
          </a:p>
        </p:txBody>
      </p:sp>
      <p:sp>
        <p:nvSpPr>
          <p:cNvPr id="7" name="Shape 4"/>
          <p:cNvSpPr/>
          <p:nvPr/>
        </p:nvSpPr>
        <p:spPr>
          <a:xfrm>
            <a:off x="5212080" y="2423160"/>
            <a:ext cx="3474720" cy="1188720"/>
          </a:xfrm>
          <a:prstGeom prst="roundRect">
            <a:avLst>
              <a:gd name="adj" fmla="val 6154"/>
            </a:avLst>
          </a:prstGeom>
          <a:solidFill>
            <a:srgbClr val="BDE6CC"/>
          </a:solidFill>
          <a:ln w="12700">
            <a:solidFill>
              <a:srgbClr val="BDE6CC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5349240" y="2532888"/>
            <a:ext cx="3200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412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 CSS, tres capas</a:t>
            </a:r>
            <a:endParaRPr lang="en-US" sz="1300" dirty="0"/>
          </a:p>
        </p:txBody>
      </p:sp>
      <p:sp>
        <p:nvSpPr>
          <p:cNvPr id="9" name="Text 6"/>
          <p:cNvSpPr txBox="1"/>
          <p:nvPr/>
        </p:nvSpPr>
        <p:spPr>
          <a:xfrm>
            <a:off x="5349240" y="2843784"/>
            <a:ext cx="320040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4122B"/>
                </a:solidFill>
              </a:rPr>
              <a:t>Fondo (nubes) ×0,2 · Medio (barco y Willie) ×0,6 · Frente (olas) ×1,2. translateX(calc(var(--pe) * -700px * var(--v))).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5212080" y="3749040"/>
            <a:ext cx="3474720" cy="914400"/>
          </a:xfrm>
          <a:prstGeom prst="roundRect">
            <a:avLst>
              <a:gd name="adj" fmla="val 8000"/>
            </a:avLst>
          </a:prstGeom>
          <a:solidFill>
            <a:srgbClr val="BDD7F3"/>
          </a:solidFill>
          <a:ln w="12700">
            <a:solidFill>
              <a:srgbClr val="BDD7F3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5349240" y="3858768"/>
            <a:ext cx="3200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412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Perspectiva real</a:t>
            </a:r>
            <a:endParaRPr lang="en-US" sz="1300" dirty="0"/>
          </a:p>
        </p:txBody>
      </p:sp>
      <p:sp>
        <p:nvSpPr>
          <p:cNvPr id="12" name="Text 9"/>
          <p:cNvSpPr txBox="1"/>
          <p:nvPr/>
        </p:nvSpPr>
        <p:spPr>
          <a:xfrm>
            <a:off x="5349240" y="4169664"/>
            <a:ext cx="32004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4122B"/>
                </a:solidFill>
              </a:rPr>
              <a:t>perspective: 900px y rotateY() inclinan tarjetas; Three.js (MIT) para un objeto 3D que gira con el mismo reloj.</a:t>
            </a:r>
            <a:endParaRPr lang="en-US" sz="1100" dirty="0"/>
          </a:p>
        </p:txBody>
      </p:sp>
      <p:sp>
        <p:nvSpPr>
          <p:cNvPr id="13" name="Text 10"/>
          <p:cNvSpPr txBox="1"/>
          <p:nvPr/>
        </p:nvSpPr>
        <p:spPr>
          <a:xfrm>
            <a:off x="457200" y="3703320"/>
            <a:ext cx="4480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B7B4CC"/>
                </a:solidFill>
              </a:rPr>
              <a:t>Escena 5, segundo 11,5. La profundidad es una velocidad relativa, no un dibujo.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73168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B7B4CC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92608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FBF7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Estilo de arte: una silueta, cuatro tratamientos</a:t>
            </a:r>
            <a:endParaRPr lang="en-US" sz="2400" dirty="0"/>
          </a:p>
        </p:txBody>
      </p:sp>
      <p:pic>
        <p:nvPicPr>
          <p:cNvPr id="3" name="Image 0" descr="/tmp/claude-0/-home-user-jmd/d413a7e9-9494-54cc-a963-42ae9b39a6a5/scratchpad/build/assets/willie-plano-rosa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097280"/>
            <a:ext cx="1828800" cy="1993392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457200" y="315468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F4C2C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Plano</a:t>
            </a:r>
            <a:endParaRPr lang="en-US" sz="1400" dirty="0"/>
          </a:p>
        </p:txBody>
      </p:sp>
      <p:sp>
        <p:nvSpPr>
          <p:cNvPr id="5" name="Text 2"/>
          <p:cNvSpPr txBox="1"/>
          <p:nvPr/>
        </p:nvSpPr>
        <p:spPr>
          <a:xfrm>
            <a:off x="457200" y="34290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B7B4CC"/>
                </a:solidFill>
              </a:rPr>
              <a:t>Relleno tinta sobre pastel</a:t>
            </a:r>
            <a:endParaRPr lang="en-US" sz="1050" dirty="0"/>
          </a:p>
        </p:txBody>
      </p:sp>
      <p:pic>
        <p:nvPicPr>
          <p:cNvPr id="6" name="Image 1" descr="/tmp/claude-0/-home-user-jmd/d413a7e9-9494-54cc-a963-42ae9b39a6a5/scratchpad/build/assets/willie-puntos-menta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60320" y="1097280"/>
            <a:ext cx="1828800" cy="1993392"/>
          </a:xfrm>
          <a:prstGeom prst="rect">
            <a:avLst/>
          </a:prstGeom>
        </p:spPr>
      </p:pic>
      <p:sp>
        <p:nvSpPr>
          <p:cNvPr id="7" name="Text 3"/>
          <p:cNvSpPr txBox="1"/>
          <p:nvPr/>
        </p:nvSpPr>
        <p:spPr>
          <a:xfrm>
            <a:off x="2560320" y="315468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BDE6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Puntos</a:t>
            </a:r>
            <a:endParaRPr lang="en-US" sz="1400" dirty="0"/>
          </a:p>
        </p:txBody>
      </p:sp>
      <p:sp>
        <p:nvSpPr>
          <p:cNvPr id="8" name="Text 4"/>
          <p:cNvSpPr txBox="1"/>
          <p:nvPr/>
        </p:nvSpPr>
        <p:spPr>
          <a:xfrm>
            <a:off x="2560320" y="34290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B7B4CC"/>
                </a:solidFill>
              </a:rPr>
              <a:t>Un círculo por píxel</a:t>
            </a:r>
            <a:endParaRPr lang="en-US" sz="1050" dirty="0"/>
          </a:p>
        </p:txBody>
      </p:sp>
      <p:pic>
        <p:nvPicPr>
          <p:cNvPr id="9" name="Image 2" descr="/tmp/claude-0/-home-user-jmd/d413a7e9-9494-54cc-a963-42ae9b39a6a5/scratchpad/build/assets/willie-1bit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63440" y="1097280"/>
            <a:ext cx="1828800" cy="1993392"/>
          </a:xfrm>
          <a:prstGeom prst="rect">
            <a:avLst/>
          </a:prstGeom>
        </p:spPr>
      </p:pic>
      <p:sp>
        <p:nvSpPr>
          <p:cNvPr id="10" name="Text 5"/>
          <p:cNvSpPr txBox="1"/>
          <p:nvPr/>
        </p:nvSpPr>
        <p:spPr>
          <a:xfrm>
            <a:off x="4663440" y="315468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FBF7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 bit</a:t>
            </a:r>
            <a:endParaRPr lang="en-US" sz="1400" dirty="0"/>
          </a:p>
        </p:txBody>
      </p:sp>
      <p:sp>
        <p:nvSpPr>
          <p:cNvPr id="11" name="Text 6"/>
          <p:cNvSpPr txBox="1"/>
          <p:nvPr/>
        </p:nvSpPr>
        <p:spPr>
          <a:xfrm>
            <a:off x="4663440" y="34290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B7B4CC"/>
                </a:solidFill>
              </a:rPr>
              <a:t>Tinta sobre hueso</a:t>
            </a:r>
            <a:endParaRPr lang="en-US" sz="1050" dirty="0"/>
          </a:p>
        </p:txBody>
      </p:sp>
      <p:pic>
        <p:nvPicPr>
          <p:cNvPr id="12" name="Image 3" descr="/tmp/claude-0/-home-user-jmd/d413a7e9-9494-54cc-a963-42ae9b39a6a5/scratchpad/build/assets/willie-moneda-cielo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66560" y="1097280"/>
            <a:ext cx="1828800" cy="1993392"/>
          </a:xfrm>
          <a:prstGeom prst="rect">
            <a:avLst/>
          </a:prstGeom>
        </p:spPr>
      </p:pic>
      <p:sp>
        <p:nvSpPr>
          <p:cNvPr id="13" name="Text 7"/>
          <p:cNvSpPr txBox="1"/>
          <p:nvPr/>
        </p:nvSpPr>
        <p:spPr>
          <a:xfrm>
            <a:off x="6766560" y="315468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BDD7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Moneda</a:t>
            </a:r>
            <a:endParaRPr lang="en-US" sz="1400" dirty="0"/>
          </a:p>
        </p:txBody>
      </p:sp>
      <p:sp>
        <p:nvSpPr>
          <p:cNvPr id="14" name="Text 8"/>
          <p:cNvSpPr txBox="1"/>
          <p:nvPr/>
        </p:nvSpPr>
        <p:spPr>
          <a:xfrm>
            <a:off x="6766560" y="34290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B7B4CC"/>
                </a:solidFill>
              </a:rPr>
              <a:t>Relleno pastel, borde tinta</a:t>
            </a:r>
            <a:endParaRPr lang="en-US" sz="1050" dirty="0"/>
          </a:p>
        </p:txBody>
      </p:sp>
      <p:sp>
        <p:nvSpPr>
          <p:cNvPr id="15" name="Text 9"/>
          <p:cNvSpPr txBox="1"/>
          <p:nvPr/>
        </p:nvSpPr>
        <p:spPr>
          <a:xfrm>
            <a:off x="457200" y="3794760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FBF7F0"/>
                </a:solidFill>
              </a:rPr>
              <a:t>La figura es una rejilla de 44 × 48 celdas convertida en un solo trazo SVG (shape-rendering: crispEdges). Pesa 2 KB.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FBF7F0"/>
                </a:solidFill>
              </a:rPr>
              <a:t>El tratamiento es CSS: fill, mask-image, filter. La silueta no se redibuja; el estilo se pide con palabras.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FBF7F0"/>
                </a:solidFill>
              </a:rPr>
              <a:t>Tokens del estilo: tinta #14122B, hueso #FBF7F0 y seis pasteles. Color por función, no por gusto.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73168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B7B4CC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92608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FBF7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Principios de animación que usamos hoy</a:t>
            </a:r>
            <a:endParaRPr lang="en-US" sz="2400" dirty="0"/>
          </a:p>
        </p:txBody>
      </p:sp>
      <p:pic>
        <p:nvPicPr>
          <p:cNvPr id="3" name="Image 0" descr="/tmp/claude-0/-home-user-jmd/d413a7e9-9494-54cc-a963-42ae9b39a6a5/scratchpad/build/assets/frame-13.9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097280"/>
            <a:ext cx="4023360" cy="2258568"/>
          </a:xfrm>
          <a:prstGeom prst="rect">
            <a:avLst/>
          </a:prstGeom>
        </p:spPr>
      </p:pic>
      <p:pic>
        <p:nvPicPr>
          <p:cNvPr id="4" name="Image 1" descr="/tmp/claude-0/-home-user-jmd/d413a7e9-9494-54cc-a963-42ae9b39a6a5/scratchpad/build/assets/frame-14.9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3429000"/>
            <a:ext cx="1965960" cy="1106424"/>
          </a:xfrm>
          <a:prstGeom prst="rect">
            <a:avLst/>
          </a:prstGeom>
        </p:spPr>
      </p:pic>
      <p:sp>
        <p:nvSpPr>
          <p:cNvPr id="5" name="Text 1"/>
          <p:cNvSpPr txBox="1"/>
          <p:nvPr/>
        </p:nvSpPr>
        <p:spPr>
          <a:xfrm>
            <a:off x="2560320" y="3429000"/>
            <a:ext cx="19202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B7B4CC"/>
                </a:solidFill>
              </a:rPr>
              <a:t>Arriba: el arco del salto (13,9 s). Abajo: aplastar al caer (14,9 s).</a:t>
            </a:r>
            <a:endParaRPr lang="en-US" sz="1000" dirty="0"/>
          </a:p>
        </p:txBody>
      </p:sp>
      <p:sp>
        <p:nvSpPr>
          <p:cNvPr id="6" name="Shape 2"/>
          <p:cNvSpPr/>
          <p:nvPr/>
        </p:nvSpPr>
        <p:spPr>
          <a:xfrm>
            <a:off x="4754880" y="1097280"/>
            <a:ext cx="1920240" cy="804672"/>
          </a:xfrm>
          <a:prstGeom prst="roundRect">
            <a:avLst>
              <a:gd name="adj" fmla="val 9091"/>
            </a:avLst>
          </a:prstGeom>
          <a:solidFill>
            <a:srgbClr val="F4C2CF"/>
          </a:solidFill>
          <a:ln w="12700">
            <a:solidFill>
              <a:srgbClr val="F4C2CF"/>
            </a:solidFill>
            <a:prstDash val="solid"/>
          </a:ln>
        </p:spPr>
      </p:sp>
      <p:sp>
        <p:nvSpPr>
          <p:cNvPr id="7" name="Text 3"/>
          <p:cNvSpPr txBox="1"/>
          <p:nvPr/>
        </p:nvSpPr>
        <p:spPr>
          <a:xfrm>
            <a:off x="4892040" y="1207008"/>
            <a:ext cx="1645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1412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Aplastar y estirar</a:t>
            </a:r>
            <a:endParaRPr lang="en-US" sz="1100" dirty="0"/>
          </a:p>
        </p:txBody>
      </p:sp>
      <p:sp>
        <p:nvSpPr>
          <p:cNvPr id="8" name="Text 4"/>
          <p:cNvSpPr txBox="1"/>
          <p:nvPr/>
        </p:nvSpPr>
        <p:spPr>
          <a:xfrm>
            <a:off x="4892040" y="1463040"/>
            <a:ext cx="1645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14122B"/>
                </a:solidFill>
              </a:rPr>
              <a:t>scale(1.15, .85) al tocar el suelo</a:t>
            </a:r>
            <a:endParaRPr lang="en-US" sz="950" dirty="0"/>
          </a:p>
        </p:txBody>
      </p:sp>
      <p:sp>
        <p:nvSpPr>
          <p:cNvPr id="9" name="Shape 5"/>
          <p:cNvSpPr/>
          <p:nvPr/>
        </p:nvSpPr>
        <p:spPr>
          <a:xfrm>
            <a:off x="6766560" y="1097280"/>
            <a:ext cx="1920240" cy="804672"/>
          </a:xfrm>
          <a:prstGeom prst="roundRect">
            <a:avLst>
              <a:gd name="adj" fmla="val 9091"/>
            </a:avLst>
          </a:prstGeom>
          <a:solidFill>
            <a:srgbClr val="F7D1A6"/>
          </a:solidFill>
          <a:ln w="12700">
            <a:solidFill>
              <a:srgbClr val="F7D1A6"/>
            </a:solidFill>
            <a:prstDash val="solid"/>
          </a:ln>
        </p:spPr>
      </p:sp>
      <p:sp>
        <p:nvSpPr>
          <p:cNvPr id="10" name="Text 6"/>
          <p:cNvSpPr txBox="1"/>
          <p:nvPr/>
        </p:nvSpPr>
        <p:spPr>
          <a:xfrm>
            <a:off x="6903720" y="1207008"/>
            <a:ext cx="1645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1412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Anticipación</a:t>
            </a:r>
            <a:endParaRPr lang="en-US" sz="1100" dirty="0"/>
          </a:p>
        </p:txBody>
      </p:sp>
      <p:sp>
        <p:nvSpPr>
          <p:cNvPr id="11" name="Text 7"/>
          <p:cNvSpPr txBox="1"/>
          <p:nvPr/>
        </p:nvSpPr>
        <p:spPr>
          <a:xfrm>
            <a:off x="6903720" y="1463040"/>
            <a:ext cx="1645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14122B"/>
                </a:solidFill>
              </a:rPr>
              <a:t>Se agacha una corchea antes de saltar</a:t>
            </a:r>
            <a:endParaRPr lang="en-US" sz="950" dirty="0"/>
          </a:p>
        </p:txBody>
      </p:sp>
      <p:sp>
        <p:nvSpPr>
          <p:cNvPr id="12" name="Shape 8"/>
          <p:cNvSpPr/>
          <p:nvPr/>
        </p:nvSpPr>
        <p:spPr>
          <a:xfrm>
            <a:off x="4754880" y="1993392"/>
            <a:ext cx="1920240" cy="804672"/>
          </a:xfrm>
          <a:prstGeom prst="roundRect">
            <a:avLst>
              <a:gd name="adj" fmla="val 9091"/>
            </a:avLst>
          </a:prstGeom>
          <a:solidFill>
            <a:srgbClr val="EFE6A4"/>
          </a:solidFill>
          <a:ln w="12700">
            <a:solidFill>
              <a:srgbClr val="EFE6A4"/>
            </a:solidFill>
            <a:prstDash val="solid"/>
          </a:ln>
        </p:spPr>
      </p:sp>
      <p:sp>
        <p:nvSpPr>
          <p:cNvPr id="13" name="Text 9"/>
          <p:cNvSpPr txBox="1"/>
          <p:nvPr/>
        </p:nvSpPr>
        <p:spPr>
          <a:xfrm>
            <a:off x="4892040" y="2103120"/>
            <a:ext cx="1645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1412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Arcos</a:t>
            </a:r>
            <a:endParaRPr lang="en-US" sz="1100" dirty="0"/>
          </a:p>
        </p:txBody>
      </p:sp>
      <p:sp>
        <p:nvSpPr>
          <p:cNvPr id="14" name="Text 10"/>
          <p:cNvSpPr txBox="1"/>
          <p:nvPr/>
        </p:nvSpPr>
        <p:spPr>
          <a:xfrm>
            <a:off x="4892040" y="2359152"/>
            <a:ext cx="1645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14122B"/>
                </a:solidFill>
              </a:rPr>
              <a:t>El salto es una parábola, no una línea</a:t>
            </a:r>
            <a:endParaRPr lang="en-US" sz="950" dirty="0"/>
          </a:p>
        </p:txBody>
      </p:sp>
      <p:sp>
        <p:nvSpPr>
          <p:cNvPr id="15" name="Shape 11"/>
          <p:cNvSpPr/>
          <p:nvPr/>
        </p:nvSpPr>
        <p:spPr>
          <a:xfrm>
            <a:off x="6766560" y="1993392"/>
            <a:ext cx="1920240" cy="804672"/>
          </a:xfrm>
          <a:prstGeom prst="roundRect">
            <a:avLst>
              <a:gd name="adj" fmla="val 9091"/>
            </a:avLst>
          </a:prstGeom>
          <a:solidFill>
            <a:srgbClr val="BDE6CC"/>
          </a:solidFill>
          <a:ln w="12700">
            <a:solidFill>
              <a:srgbClr val="BDE6CC"/>
            </a:solidFill>
            <a:prstDash val="solid"/>
          </a:ln>
        </p:spPr>
      </p:sp>
      <p:sp>
        <p:nvSpPr>
          <p:cNvPr id="16" name="Text 12"/>
          <p:cNvSpPr txBox="1"/>
          <p:nvPr/>
        </p:nvSpPr>
        <p:spPr>
          <a:xfrm>
            <a:off x="6903720" y="2103120"/>
            <a:ext cx="1645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1412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Timing</a:t>
            </a:r>
            <a:endParaRPr lang="en-US" sz="1100" dirty="0"/>
          </a:p>
        </p:txBody>
      </p:sp>
      <p:sp>
        <p:nvSpPr>
          <p:cNvPr id="17" name="Text 13"/>
          <p:cNvSpPr txBox="1"/>
          <p:nvPr/>
        </p:nvSpPr>
        <p:spPr>
          <a:xfrm>
            <a:off x="6903720" y="2359152"/>
            <a:ext cx="1645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14122B"/>
                </a:solidFill>
              </a:rPr>
              <a:t>Cuántos cuadros dura cada cosa; lo dicta el pulso</a:t>
            </a:r>
            <a:endParaRPr lang="en-US" sz="950" dirty="0"/>
          </a:p>
        </p:txBody>
      </p:sp>
      <p:sp>
        <p:nvSpPr>
          <p:cNvPr id="18" name="Shape 14"/>
          <p:cNvSpPr/>
          <p:nvPr/>
        </p:nvSpPr>
        <p:spPr>
          <a:xfrm>
            <a:off x="4754880" y="2889504"/>
            <a:ext cx="1920240" cy="804672"/>
          </a:xfrm>
          <a:prstGeom prst="roundRect">
            <a:avLst>
              <a:gd name="adj" fmla="val 9091"/>
            </a:avLst>
          </a:prstGeom>
          <a:solidFill>
            <a:srgbClr val="BDD7F3"/>
          </a:solidFill>
          <a:ln w="12700">
            <a:solidFill>
              <a:srgbClr val="BDD7F3"/>
            </a:solidFill>
            <a:prstDash val="solid"/>
          </a:ln>
        </p:spPr>
      </p:sp>
      <p:sp>
        <p:nvSpPr>
          <p:cNvPr id="19" name="Text 15"/>
          <p:cNvSpPr txBox="1"/>
          <p:nvPr/>
        </p:nvSpPr>
        <p:spPr>
          <a:xfrm>
            <a:off x="4892040" y="2999232"/>
            <a:ext cx="1645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1412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Suavizado (ease)</a:t>
            </a:r>
            <a:endParaRPr lang="en-US" sz="1100" dirty="0"/>
          </a:p>
        </p:txBody>
      </p:sp>
      <p:sp>
        <p:nvSpPr>
          <p:cNvPr id="20" name="Text 16"/>
          <p:cNvSpPr txBox="1"/>
          <p:nvPr/>
        </p:nvSpPr>
        <p:spPr>
          <a:xfrm>
            <a:off x="4892040" y="3255264"/>
            <a:ext cx="1645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14122B"/>
                </a:solidFill>
              </a:rPr>
              <a:t>ease-in-out para lo vivo</a:t>
            </a:r>
            <a:endParaRPr lang="en-US" sz="950" dirty="0"/>
          </a:p>
        </p:txBody>
      </p:sp>
      <p:sp>
        <p:nvSpPr>
          <p:cNvPr id="21" name="Shape 17"/>
          <p:cNvSpPr/>
          <p:nvPr/>
        </p:nvSpPr>
        <p:spPr>
          <a:xfrm>
            <a:off x="6766560" y="2889504"/>
            <a:ext cx="1920240" cy="804672"/>
          </a:xfrm>
          <a:prstGeom prst="roundRect">
            <a:avLst>
              <a:gd name="adj" fmla="val 9091"/>
            </a:avLst>
          </a:prstGeom>
          <a:solidFill>
            <a:srgbClr val="D6C5F0"/>
          </a:solidFill>
          <a:ln w="12700">
            <a:solidFill>
              <a:srgbClr val="D6C5F0"/>
            </a:solidFill>
            <a:prstDash val="solid"/>
          </a:ln>
        </p:spPr>
      </p:sp>
      <p:sp>
        <p:nvSpPr>
          <p:cNvPr id="22" name="Text 18"/>
          <p:cNvSpPr txBox="1"/>
          <p:nvPr/>
        </p:nvSpPr>
        <p:spPr>
          <a:xfrm>
            <a:off x="6903720" y="2999232"/>
            <a:ext cx="1645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1412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Acción secundaria</a:t>
            </a:r>
            <a:endParaRPr lang="en-US" sz="1100" dirty="0"/>
          </a:p>
        </p:txBody>
      </p:sp>
      <p:sp>
        <p:nvSpPr>
          <p:cNvPr id="23" name="Text 19"/>
          <p:cNvSpPr txBox="1"/>
          <p:nvPr/>
        </p:nvSpPr>
        <p:spPr>
          <a:xfrm>
            <a:off x="6903720" y="3255264"/>
            <a:ext cx="1645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14122B"/>
                </a:solidFill>
              </a:rPr>
              <a:t>El timón sigue girando</a:t>
            </a:r>
            <a:endParaRPr lang="en-US" sz="950" dirty="0"/>
          </a:p>
        </p:txBody>
      </p:sp>
      <p:sp>
        <p:nvSpPr>
          <p:cNvPr id="24" name="Shape 20"/>
          <p:cNvSpPr/>
          <p:nvPr/>
        </p:nvSpPr>
        <p:spPr>
          <a:xfrm>
            <a:off x="4754880" y="3785616"/>
            <a:ext cx="1920240" cy="804672"/>
          </a:xfrm>
          <a:prstGeom prst="roundRect">
            <a:avLst>
              <a:gd name="adj" fmla="val 9091"/>
            </a:avLst>
          </a:prstGeom>
          <a:solidFill>
            <a:srgbClr val="F4C2CF"/>
          </a:solidFill>
          <a:ln w="12700">
            <a:solidFill>
              <a:srgbClr val="F4C2CF"/>
            </a:solidFill>
            <a:prstDash val="solid"/>
          </a:ln>
        </p:spPr>
      </p:sp>
      <p:sp>
        <p:nvSpPr>
          <p:cNvPr id="25" name="Text 21"/>
          <p:cNvSpPr txBox="1"/>
          <p:nvPr/>
        </p:nvSpPr>
        <p:spPr>
          <a:xfrm>
            <a:off x="4892040" y="3895344"/>
            <a:ext cx="1645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1412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Exageración</a:t>
            </a:r>
            <a:endParaRPr lang="en-US" sz="1100" dirty="0"/>
          </a:p>
        </p:txBody>
      </p:sp>
      <p:sp>
        <p:nvSpPr>
          <p:cNvPr id="26" name="Text 22"/>
          <p:cNvSpPr txBox="1"/>
          <p:nvPr/>
        </p:nvSpPr>
        <p:spPr>
          <a:xfrm>
            <a:off x="4892040" y="4151376"/>
            <a:ext cx="1645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14122B"/>
                </a:solidFill>
              </a:rPr>
              <a:t>Salta más alto de lo posible</a:t>
            </a:r>
            <a:endParaRPr lang="en-US" sz="950" dirty="0"/>
          </a:p>
        </p:txBody>
      </p:sp>
      <p:sp>
        <p:nvSpPr>
          <p:cNvPr id="27" name="Shape 23"/>
          <p:cNvSpPr/>
          <p:nvPr/>
        </p:nvSpPr>
        <p:spPr>
          <a:xfrm>
            <a:off x="6766560" y="3785616"/>
            <a:ext cx="1920240" cy="804672"/>
          </a:xfrm>
          <a:prstGeom prst="roundRect">
            <a:avLst>
              <a:gd name="adj" fmla="val 9091"/>
            </a:avLst>
          </a:prstGeom>
          <a:solidFill>
            <a:srgbClr val="F7D1A6"/>
          </a:solidFill>
          <a:ln w="12700">
            <a:solidFill>
              <a:srgbClr val="F7D1A6"/>
            </a:solidFill>
            <a:prstDash val="solid"/>
          </a:ln>
        </p:spPr>
      </p:sp>
      <p:sp>
        <p:nvSpPr>
          <p:cNvPr id="28" name="Text 24"/>
          <p:cNvSpPr txBox="1"/>
          <p:nvPr/>
        </p:nvSpPr>
        <p:spPr>
          <a:xfrm>
            <a:off x="6903720" y="3895344"/>
            <a:ext cx="1645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1412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Puesta en escena</a:t>
            </a:r>
            <a:endParaRPr lang="en-US" sz="1100" dirty="0"/>
          </a:p>
        </p:txBody>
      </p:sp>
      <p:sp>
        <p:nvSpPr>
          <p:cNvPr id="29" name="Text 25"/>
          <p:cNvSpPr txBox="1"/>
          <p:nvPr/>
        </p:nvSpPr>
        <p:spPr>
          <a:xfrm>
            <a:off x="6903720" y="4151376"/>
            <a:ext cx="1645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14122B"/>
                </a:solidFill>
              </a:rPr>
              <a:t>Un punto focal por escena</a:t>
            </a:r>
            <a:endParaRPr lang="en-US" sz="9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73168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B7B4CC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92608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FBF7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Diseño en movimiento: reglas que no se negocian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457200" y="1097280"/>
            <a:ext cx="2651760" cy="1463040"/>
          </a:xfrm>
          <a:prstGeom prst="roundRect">
            <a:avLst>
              <a:gd name="adj" fmla="val 5000"/>
            </a:avLst>
          </a:prstGeom>
          <a:solidFill>
            <a:srgbClr val="F4C2CF"/>
          </a:solidFill>
          <a:ln w="12700">
            <a:solidFill>
              <a:srgbClr val="F4C2CF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594360" y="1207008"/>
            <a:ext cx="2377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412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 movimiento explica</a:t>
            </a:r>
            <a:endParaRPr lang="en-US" sz="1300" dirty="0"/>
          </a:p>
        </p:txBody>
      </p:sp>
      <p:sp>
        <p:nvSpPr>
          <p:cNvPr id="5" name="Text 3"/>
          <p:cNvSpPr txBox="1"/>
          <p:nvPr/>
        </p:nvSpPr>
        <p:spPr>
          <a:xfrm>
            <a:off x="594360" y="1517904"/>
            <a:ext cx="2377440" cy="9509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4122B"/>
                </a:solidFill>
              </a:rPr>
              <a:t>Si solo adorna, se quita. Cada movimiento responde a «¿qué le dice esto al que mira?».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3246120" y="1097280"/>
            <a:ext cx="2651760" cy="1463040"/>
          </a:xfrm>
          <a:prstGeom prst="roundRect">
            <a:avLst>
              <a:gd name="adj" fmla="val 5000"/>
            </a:avLst>
          </a:prstGeom>
          <a:solidFill>
            <a:srgbClr val="F7D1A6"/>
          </a:solidFill>
          <a:ln w="12700">
            <a:solidFill>
              <a:srgbClr val="F7D1A6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3383280" y="1207008"/>
            <a:ext cx="2377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412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 efecto por rol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3383280" y="1517904"/>
            <a:ext cx="2377440" cy="9509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4122B"/>
                </a:solidFill>
              </a:rPr>
              <a:t>Todos los títulos entran igual en toda la pieza. La coherencia es un token más.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6035040" y="1097280"/>
            <a:ext cx="2651760" cy="1463040"/>
          </a:xfrm>
          <a:prstGeom prst="roundRect">
            <a:avLst>
              <a:gd name="adj" fmla="val 5000"/>
            </a:avLst>
          </a:prstGeom>
          <a:solidFill>
            <a:srgbClr val="EFE6A4"/>
          </a:solidFill>
          <a:ln w="12700">
            <a:solidFill>
              <a:srgbClr val="EFE6A4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6172200" y="1207008"/>
            <a:ext cx="2377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412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Sin destellos</a:t>
            </a:r>
            <a:endParaRPr lang="en-US" sz="1300" dirty="0"/>
          </a:p>
        </p:txBody>
      </p:sp>
      <p:sp>
        <p:nvSpPr>
          <p:cNvPr id="11" name="Text 9"/>
          <p:cNvSpPr txBox="1"/>
          <p:nvPr/>
        </p:nvSpPr>
        <p:spPr>
          <a:xfrm>
            <a:off x="6172200" y="1517904"/>
            <a:ext cx="2377440" cy="9509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4122B"/>
                </a:solidFill>
              </a:rPr>
              <a:t>Nunca dos fondos de alto contraste seguidos. Ningún corte menor de 0,25 s.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57200" y="2697480"/>
            <a:ext cx="2651760" cy="1463040"/>
          </a:xfrm>
          <a:prstGeom prst="roundRect">
            <a:avLst>
              <a:gd name="adj" fmla="val 5000"/>
            </a:avLst>
          </a:prstGeom>
          <a:solidFill>
            <a:srgbClr val="BDE6CC"/>
          </a:solidFill>
          <a:ln w="12700">
            <a:solidFill>
              <a:srgbClr val="BDE6CC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594360" y="2807208"/>
            <a:ext cx="2377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412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Contraste AA</a:t>
            </a:r>
            <a:endParaRPr lang="en-US" sz="1300" dirty="0"/>
          </a:p>
        </p:txBody>
      </p:sp>
      <p:sp>
        <p:nvSpPr>
          <p:cNvPr id="14" name="Text 12"/>
          <p:cNvSpPr txBox="1"/>
          <p:nvPr/>
        </p:nvSpPr>
        <p:spPr>
          <a:xfrm>
            <a:off x="594360" y="3118104"/>
            <a:ext cx="2377440" cy="9509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4122B"/>
                </a:solidFill>
              </a:rPr>
              <a:t>Tinta sobre pastel, hueso sobre tinta. Se comprueba texto por texto.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3246120" y="2697480"/>
            <a:ext cx="2651760" cy="1463040"/>
          </a:xfrm>
          <a:prstGeom prst="roundRect">
            <a:avLst>
              <a:gd name="adj" fmla="val 5000"/>
            </a:avLst>
          </a:prstGeom>
          <a:solidFill>
            <a:srgbClr val="BDD7F3"/>
          </a:solidFill>
          <a:ln w="12700">
            <a:solidFill>
              <a:srgbClr val="BDD7F3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3383280" y="2807208"/>
            <a:ext cx="2377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412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Reducir movimiento</a:t>
            </a:r>
            <a:endParaRPr lang="en-US" sz="1300" dirty="0"/>
          </a:p>
        </p:txBody>
      </p:sp>
      <p:sp>
        <p:nvSpPr>
          <p:cNvPr id="17" name="Text 15"/>
          <p:cNvSpPr txBox="1"/>
          <p:nvPr/>
        </p:nvSpPr>
        <p:spPr>
          <a:xfrm>
            <a:off x="3383280" y="3118104"/>
            <a:ext cx="2377440" cy="9509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4122B"/>
                </a:solidFill>
              </a:rPr>
              <a:t>Con prefers-reduced-motion la pieza muestra su storyboard quieto.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6035040" y="2697480"/>
            <a:ext cx="2651760" cy="1463040"/>
          </a:xfrm>
          <a:prstGeom prst="roundRect">
            <a:avLst>
              <a:gd name="adj" fmla="val 5000"/>
            </a:avLst>
          </a:prstGeom>
          <a:solidFill>
            <a:srgbClr val="D6C5F0"/>
          </a:solidFill>
          <a:ln w="12700">
            <a:solidFill>
              <a:srgbClr val="D6C5F0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6172200" y="2807208"/>
            <a:ext cx="2377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412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Sin internet</a:t>
            </a:r>
            <a:endParaRPr lang="en-US" sz="1300" dirty="0"/>
          </a:p>
        </p:txBody>
      </p:sp>
      <p:sp>
        <p:nvSpPr>
          <p:cNvPr id="20" name="Text 18"/>
          <p:cNvSpPr txBox="1"/>
          <p:nvPr/>
        </p:nvSpPr>
        <p:spPr>
          <a:xfrm>
            <a:off x="6172200" y="3118104"/>
            <a:ext cx="2377440" cy="9509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4122B"/>
                </a:solidFill>
              </a:rPr>
              <a:t>Nada de CDN, fuentes remotas ni imágenes externas: se abre siempre.</a:t>
            </a:r>
            <a:endParaRPr lang="en-US" sz="1100" dirty="0"/>
          </a:p>
        </p:txBody>
      </p:sp>
      <p:sp>
        <p:nvSpPr>
          <p:cNvPr id="21" name="Text 19"/>
          <p:cNvSpPr txBox="1"/>
          <p:nvPr/>
        </p:nvSpPr>
        <p:spPr>
          <a:xfrm>
            <a:off x="457200" y="434340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B7B4CC"/>
                </a:solidFill>
              </a:rPr>
              <a:t>Estas reglas son la rúbrica de la tarea 1: Jerarquía, Coherencia, Accesibilidad y Movimiento y ritmo.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73168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B7B4CC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92608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FBF7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 pedido en seis partes, con Willie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457200" y="1097280"/>
            <a:ext cx="2651760" cy="1508760"/>
          </a:xfrm>
          <a:prstGeom prst="roundRect">
            <a:avLst>
              <a:gd name="adj" fmla="val 4848"/>
            </a:avLst>
          </a:prstGeom>
          <a:solidFill>
            <a:srgbClr val="F4C2CF"/>
          </a:solidFill>
          <a:ln w="12700">
            <a:solidFill>
              <a:srgbClr val="F4C2CF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594360" y="1207008"/>
            <a:ext cx="2377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412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 · Rol</a:t>
            </a:r>
            <a:endParaRPr lang="en-US" sz="1300" dirty="0"/>
          </a:p>
        </p:txBody>
      </p:sp>
      <p:sp>
        <p:nvSpPr>
          <p:cNvPr id="5" name="Text 3"/>
          <p:cNvSpPr txBox="1"/>
          <p:nvPr/>
        </p:nvSpPr>
        <p:spPr>
          <a:xfrm>
            <a:off x="594360" y="150876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14122B"/>
                </a:solidFill>
              </a:rPr>
              <a:t>¿Quién debe ser el agente?</a:t>
            </a:r>
            <a:endParaRPr lang="en-US" sz="1000" dirty="0"/>
          </a:p>
        </p:txBody>
      </p:sp>
      <p:sp>
        <p:nvSpPr>
          <p:cNvPr id="6" name="Text 4"/>
          <p:cNvSpPr txBox="1"/>
          <p:nvPr/>
        </p:nvSpPr>
        <p:spPr>
          <a:xfrm>
            <a:off x="594360" y="1783080"/>
            <a:ext cx="2377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i="1" dirty="0">
                <a:solidFill>
                  <a:srgbClr val="14122B"/>
                </a:solidFill>
              </a:rPr>
              <a:t>«Eres animador 2D y desarrollador front-end. Solo herramientas abiertas.»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3246120" y="1097280"/>
            <a:ext cx="2651760" cy="1508760"/>
          </a:xfrm>
          <a:prstGeom prst="roundRect">
            <a:avLst>
              <a:gd name="adj" fmla="val 4848"/>
            </a:avLst>
          </a:prstGeom>
          <a:solidFill>
            <a:srgbClr val="F7D1A6"/>
          </a:solidFill>
          <a:ln w="12700">
            <a:solidFill>
              <a:srgbClr val="F7D1A6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3383280" y="1207008"/>
            <a:ext cx="2377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412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 · Contexto</a:t>
            </a:r>
            <a:endParaRPr lang="en-US" sz="1300" dirty="0"/>
          </a:p>
        </p:txBody>
      </p:sp>
      <p:sp>
        <p:nvSpPr>
          <p:cNvPr id="9" name="Text 7"/>
          <p:cNvSpPr txBox="1"/>
          <p:nvPr/>
        </p:nvSpPr>
        <p:spPr>
          <a:xfrm>
            <a:off x="3383280" y="150876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14122B"/>
                </a:solidFill>
              </a:rPr>
              <a:t>¿Para quién y dónde?</a:t>
            </a:r>
            <a:endParaRPr lang="en-US" sz="1000" dirty="0"/>
          </a:p>
        </p:txBody>
      </p:sp>
      <p:sp>
        <p:nvSpPr>
          <p:cNvPr id="10" name="Text 8"/>
          <p:cNvSpPr txBox="1"/>
          <p:nvPr/>
        </p:nvSpPr>
        <p:spPr>
          <a:xfrm>
            <a:off x="3383280" y="1783080"/>
            <a:ext cx="2377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i="1" dirty="0">
                <a:solidFill>
                  <a:srgbClr val="14122B"/>
                </a:solidFill>
              </a:rPr>
              <a:t>«Taller; público que no programa; visor del aula y teléfono.»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6035040" y="1097280"/>
            <a:ext cx="2651760" cy="1508760"/>
          </a:xfrm>
          <a:prstGeom prst="roundRect">
            <a:avLst>
              <a:gd name="adj" fmla="val 4848"/>
            </a:avLst>
          </a:prstGeom>
          <a:solidFill>
            <a:srgbClr val="EFE6A4"/>
          </a:solidFill>
          <a:ln w="12700">
            <a:solidFill>
              <a:srgbClr val="EFE6A4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6172200" y="1207008"/>
            <a:ext cx="2377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412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 · Tarea</a:t>
            </a:r>
            <a:endParaRPr lang="en-US" sz="1300" dirty="0"/>
          </a:p>
        </p:txBody>
      </p:sp>
      <p:sp>
        <p:nvSpPr>
          <p:cNvPr id="13" name="Text 11"/>
          <p:cNvSpPr txBox="1"/>
          <p:nvPr/>
        </p:nvSpPr>
        <p:spPr>
          <a:xfrm>
            <a:off x="6172200" y="150876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14122B"/>
                </a:solidFill>
              </a:rPr>
              <a:t>¿Qué, con un solo verbo?</a:t>
            </a:r>
            <a:endParaRPr lang="en-US" sz="1000" dirty="0"/>
          </a:p>
        </p:txBody>
      </p:sp>
      <p:sp>
        <p:nvSpPr>
          <p:cNvPr id="14" name="Text 12"/>
          <p:cNvSpPr txBox="1"/>
          <p:nvPr/>
        </p:nvSpPr>
        <p:spPr>
          <a:xfrm>
            <a:off x="6172200" y="1783080"/>
            <a:ext cx="2377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i="1" dirty="0">
                <a:solidFill>
                  <a:srgbClr val="14122B"/>
                </a:solidFill>
              </a:rPr>
              <a:t>«Crea willie/index.html, una pieza de 20 s con Willie al timón.»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457200" y="2743200"/>
            <a:ext cx="2651760" cy="1508760"/>
          </a:xfrm>
          <a:prstGeom prst="roundRect">
            <a:avLst>
              <a:gd name="adj" fmla="val 4848"/>
            </a:avLst>
          </a:prstGeom>
          <a:solidFill>
            <a:srgbClr val="BDE6CC"/>
          </a:solidFill>
          <a:ln w="12700">
            <a:solidFill>
              <a:srgbClr val="BDE6CC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594360" y="2852928"/>
            <a:ext cx="2377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412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 · Límites</a:t>
            </a:r>
            <a:endParaRPr lang="en-US" sz="1300" dirty="0"/>
          </a:p>
        </p:txBody>
      </p:sp>
      <p:sp>
        <p:nvSpPr>
          <p:cNvPr id="17" name="Text 15"/>
          <p:cNvSpPr txBox="1"/>
          <p:nvPr/>
        </p:nvSpPr>
        <p:spPr>
          <a:xfrm>
            <a:off x="594360" y="315468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14122B"/>
                </a:solidFill>
              </a:rPr>
              <a:t>¿Qué no inventar?</a:t>
            </a:r>
            <a:endParaRPr lang="en-US" sz="1000" dirty="0"/>
          </a:p>
        </p:txBody>
      </p:sp>
      <p:sp>
        <p:nvSpPr>
          <p:cNvPr id="18" name="Text 16"/>
          <p:cNvSpPr txBox="1"/>
          <p:nvPr/>
        </p:nvSpPr>
        <p:spPr>
          <a:xfrm>
            <a:off x="594360" y="3429000"/>
            <a:ext cx="2377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i="1" dirty="0">
                <a:solidFill>
                  <a:srgbClr val="14122B"/>
                </a:solidFill>
              </a:rPr>
              <a:t>«Solo el diseño de 1928. Sin CDN. Ningún corte menor de 0,25 s.»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3246120" y="2743200"/>
            <a:ext cx="2651760" cy="1508760"/>
          </a:xfrm>
          <a:prstGeom prst="roundRect">
            <a:avLst>
              <a:gd name="adj" fmla="val 4848"/>
            </a:avLst>
          </a:prstGeom>
          <a:solidFill>
            <a:srgbClr val="BDD7F3"/>
          </a:solidFill>
          <a:ln w="12700">
            <a:solidFill>
              <a:srgbClr val="BDD7F3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3383280" y="2852928"/>
            <a:ext cx="2377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412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 · Formato</a:t>
            </a:r>
            <a:endParaRPr lang="en-US" sz="1300" dirty="0"/>
          </a:p>
        </p:txBody>
      </p:sp>
      <p:sp>
        <p:nvSpPr>
          <p:cNvPr id="21" name="Text 19"/>
          <p:cNvSpPr txBox="1"/>
          <p:nvPr/>
        </p:nvSpPr>
        <p:spPr>
          <a:xfrm>
            <a:off x="3383280" y="315468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14122B"/>
                </a:solidFill>
              </a:rPr>
              <a:t>¿Cómo lo recibo?</a:t>
            </a:r>
            <a:endParaRPr lang="en-US" sz="1000" dirty="0"/>
          </a:p>
        </p:txBody>
      </p:sp>
      <p:sp>
        <p:nvSpPr>
          <p:cNvPr id="22" name="Text 20"/>
          <p:cNvSpPr txBox="1"/>
          <p:nvPr/>
        </p:nvSpPr>
        <p:spPr>
          <a:xfrm>
            <a:off x="3383280" y="3429000"/>
            <a:ext cx="2377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i="1" dirty="0">
                <a:solidFill>
                  <a:srgbClr val="14122B"/>
                </a:solidFill>
              </a:rPr>
              <a:t>«Un HTML; cada escena es una section con data-start y data-duration.»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6035040" y="2743200"/>
            <a:ext cx="2651760" cy="1508760"/>
          </a:xfrm>
          <a:prstGeom prst="roundRect">
            <a:avLst>
              <a:gd name="adj" fmla="val 4848"/>
            </a:avLst>
          </a:prstGeom>
          <a:solidFill>
            <a:srgbClr val="D6C5F0"/>
          </a:solidFill>
          <a:ln w="12700">
            <a:solidFill>
              <a:srgbClr val="D6C5F0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6172200" y="2852928"/>
            <a:ext cx="2377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412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 · Comprobación</a:t>
            </a:r>
            <a:endParaRPr lang="en-US" sz="1300" dirty="0"/>
          </a:p>
        </p:txBody>
      </p:sp>
      <p:sp>
        <p:nvSpPr>
          <p:cNvPr id="25" name="Text 23"/>
          <p:cNvSpPr txBox="1"/>
          <p:nvPr/>
        </p:nvSpPr>
        <p:spPr>
          <a:xfrm>
            <a:off x="6172200" y="315468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14122B"/>
                </a:solidFill>
              </a:rPr>
              <a:t>¿Cómo sabemos que está bien?</a:t>
            </a:r>
            <a:endParaRPr lang="en-US" sz="1000" dirty="0"/>
          </a:p>
        </p:txBody>
      </p:sp>
      <p:sp>
        <p:nvSpPr>
          <p:cNvPr id="26" name="Text 24"/>
          <p:cNvSpPr txBox="1"/>
          <p:nvPr/>
        </p:nvSpPr>
        <p:spPr>
          <a:xfrm>
            <a:off x="6172200" y="3429000"/>
            <a:ext cx="2377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i="1" dirty="0">
                <a:solidFill>
                  <a:srgbClr val="14122B"/>
                </a:solidFill>
              </a:rPr>
              <a:t>«index.html?t=7 muestra el paneo a mitad, quieto; dura 20,0 s.»</a:t>
            </a:r>
            <a:endParaRPr lang="en-US" sz="1050" dirty="0"/>
          </a:p>
        </p:txBody>
      </p:sp>
      <p:sp>
        <p:nvSpPr>
          <p:cNvPr id="27" name="Text 25"/>
          <p:cNvSpPr txBox="1"/>
          <p:nvPr/>
        </p:nvSpPr>
        <p:spPr>
          <a:xfrm>
            <a:off x="457200" y="443484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B7B4CC"/>
                </a:solidFill>
              </a:rPr>
              <a:t>Una tarea por pedido. La comprobación se ve o se ejecuta: «funciona» no es una comprobación.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73168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B7B4CC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92608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FBF7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Vago contra claro: un pedido, dos resultados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457200" y="1097280"/>
            <a:ext cx="3977640" cy="1188720"/>
          </a:xfrm>
          <a:prstGeom prst="roundRect">
            <a:avLst>
              <a:gd name="adj" fmla="val 6154"/>
            </a:avLst>
          </a:prstGeom>
          <a:solidFill>
            <a:srgbClr val="F4C2CF"/>
          </a:solidFill>
          <a:ln w="12700">
            <a:solidFill>
              <a:srgbClr val="F4C2CF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594360" y="1207008"/>
            <a:ext cx="3703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412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Vago</a:t>
            </a:r>
            <a:endParaRPr lang="en-US" sz="1300" dirty="0"/>
          </a:p>
        </p:txBody>
      </p:sp>
      <p:sp>
        <p:nvSpPr>
          <p:cNvPr id="5" name="Text 3"/>
          <p:cNvSpPr txBox="1"/>
          <p:nvPr/>
        </p:nvSpPr>
        <p:spPr>
          <a:xfrm>
            <a:off x="594360" y="1517904"/>
            <a:ext cx="370332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4122B"/>
                </a:solidFill>
              </a:rPr>
              <a:t>«Hazme una animación bonita de Mickey, estilo The Strokes.»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4122B"/>
                </a:solidFill>
              </a:rPr>
              <a:t>El agente rellena los huecos: un Mickey moderno (protegido), una librería desde un CDN, 40 s sin ritmo y nada que comprobar.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4709160" y="1097280"/>
            <a:ext cx="3977640" cy="1188720"/>
          </a:xfrm>
          <a:prstGeom prst="roundRect">
            <a:avLst>
              <a:gd name="adj" fmla="val 6154"/>
            </a:avLst>
          </a:prstGeom>
          <a:solidFill>
            <a:srgbClr val="BDE6CC"/>
          </a:solidFill>
          <a:ln w="12700">
            <a:solidFill>
              <a:srgbClr val="BDE6CC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4846320" y="1207008"/>
            <a:ext cx="3703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412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Claro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4846320" y="1517904"/>
            <a:ext cx="370332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4122B"/>
                </a:solidFill>
              </a:rPr>
              <a:t>Las seis partes del prompt de hoy: Willie 1928, tinta y seis pasteles, 120 bpm, nueve escenas con su segundo, sin CDN, ?t=7 como comprobación.</a:t>
            </a:r>
            <a:endParaRPr lang="en-US" sz="1100" dirty="0"/>
          </a:p>
        </p:txBody>
      </p:sp>
      <p:sp>
        <p:nvSpPr>
          <p:cNvPr id="9" name="Text 7"/>
          <p:cNvSpPr txBox="1"/>
          <p:nvPr/>
        </p:nvSpPr>
        <p:spPr>
          <a:xfrm>
            <a:off x="457200" y="24688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EFE6A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Pedir, revisar, corregir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457200" y="2788920"/>
            <a:ext cx="2651760" cy="1188720"/>
          </a:xfrm>
          <a:prstGeom prst="roundRect">
            <a:avLst>
              <a:gd name="adj" fmla="val 6154"/>
            </a:avLst>
          </a:prstGeom>
          <a:solidFill>
            <a:srgbClr val="1D1B38"/>
          </a:solidFill>
          <a:ln w="12700">
            <a:solidFill>
              <a:srgbClr val="1D1B38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594360" y="2898648"/>
            <a:ext cx="2377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FBF7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 · Pide</a:t>
            </a:r>
            <a:endParaRPr lang="en-US" sz="1300" dirty="0"/>
          </a:p>
        </p:txBody>
      </p:sp>
      <p:sp>
        <p:nvSpPr>
          <p:cNvPr id="12" name="Text 10"/>
          <p:cNvSpPr txBox="1"/>
          <p:nvPr/>
        </p:nvSpPr>
        <p:spPr>
          <a:xfrm>
            <a:off x="594360" y="3209544"/>
            <a:ext cx="237744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FBF7F0"/>
                </a:solidFill>
              </a:rPr>
              <a:t>Con las seis partes. Si son tres cosas, son tres pedidos.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3246120" y="2788920"/>
            <a:ext cx="2651760" cy="1188720"/>
          </a:xfrm>
          <a:prstGeom prst="roundRect">
            <a:avLst>
              <a:gd name="adj" fmla="val 6154"/>
            </a:avLst>
          </a:prstGeom>
          <a:solidFill>
            <a:srgbClr val="1D1B38"/>
          </a:solidFill>
          <a:ln w="12700">
            <a:solidFill>
              <a:srgbClr val="1D1B38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3383280" y="2898648"/>
            <a:ext cx="2377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FBF7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 · Revisa</a:t>
            </a:r>
            <a:endParaRPr lang="en-US" sz="1300" dirty="0"/>
          </a:p>
        </p:txBody>
      </p:sp>
      <p:sp>
        <p:nvSpPr>
          <p:cNvPr id="15" name="Text 13"/>
          <p:cNvSpPr txBox="1"/>
          <p:nvPr/>
        </p:nvSpPr>
        <p:spPr>
          <a:xfrm>
            <a:off x="3383280" y="3209544"/>
            <a:ext cx="237744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FBF7F0"/>
                </a:solidFill>
              </a:rPr>
              <a:t>Abre index.html?t=7 y ?t=14,9. Compara con la comprobación que escribiste.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6035040" y="2788920"/>
            <a:ext cx="2651760" cy="1188720"/>
          </a:xfrm>
          <a:prstGeom prst="roundRect">
            <a:avLst>
              <a:gd name="adj" fmla="val 6154"/>
            </a:avLst>
          </a:prstGeom>
          <a:solidFill>
            <a:srgbClr val="1D1B38"/>
          </a:solidFill>
          <a:ln w="12700">
            <a:solidFill>
              <a:srgbClr val="1D1B38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6172200" y="2898648"/>
            <a:ext cx="2377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FBF7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 · Corrige</a:t>
            </a:r>
            <a:endParaRPr lang="en-US" sz="1300" dirty="0"/>
          </a:p>
        </p:txBody>
      </p:sp>
      <p:sp>
        <p:nvSpPr>
          <p:cNvPr id="18" name="Text 16"/>
          <p:cNvSpPr txBox="1"/>
          <p:nvPr/>
        </p:nvSpPr>
        <p:spPr>
          <a:xfrm>
            <a:off x="6172200" y="3209544"/>
            <a:ext cx="237744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FBF7F0"/>
                </a:solidFill>
              </a:rPr>
              <a:t>«En la escena 4 el zoom llega tarde: debe terminar en 9,5 s. Ajusta solo eso y dime qué línea cambiaste.»</a:t>
            </a:r>
            <a:endParaRPr lang="en-US" sz="1050" dirty="0"/>
          </a:p>
        </p:txBody>
      </p:sp>
      <p:sp>
        <p:nvSpPr>
          <p:cNvPr id="19" name="Text 17"/>
          <p:cNvSpPr txBox="1"/>
          <p:nvPr/>
        </p:nvSpPr>
        <p:spPr>
          <a:xfrm>
            <a:off x="457200" y="416052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B7B4CC"/>
                </a:solidFill>
              </a:rPr>
              <a:t>Un buen segundo pedido señala el lugar, dice el cambio, acota y pide el informe. Nunca «mejóralo».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73168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B7B4CC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15</a:t>
            </a:fld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92608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FBF7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Skills: lo que el agente carga cuando lo necesita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457200" y="1097280"/>
            <a:ext cx="3977640" cy="1600200"/>
          </a:xfrm>
          <a:prstGeom prst="roundRect">
            <a:avLst>
              <a:gd name="adj" fmla="val 4571"/>
            </a:avLst>
          </a:prstGeom>
          <a:solidFill>
            <a:srgbClr val="F7D1A6"/>
          </a:solidFill>
          <a:ln w="12700">
            <a:solidFill>
              <a:srgbClr val="F7D1A6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594360" y="1207008"/>
            <a:ext cx="3703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412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pedido-seis-partes</a:t>
            </a:r>
            <a:endParaRPr lang="en-US" sz="1300" dirty="0"/>
          </a:p>
        </p:txBody>
      </p:sp>
      <p:sp>
        <p:nvSpPr>
          <p:cNvPr id="5" name="Text 3"/>
          <p:cNvSpPr txBox="1"/>
          <p:nvPr/>
        </p:nvSpPr>
        <p:spPr>
          <a:xfrm>
            <a:off x="594360" y="1517904"/>
            <a:ext cx="3703320" cy="10881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4122B"/>
                </a:solidFill>
              </a:rPr>
              <a:t>Completa un pedido vago con las seis partes antes de construir. Deja en [corchetes] lo que solo tú sabes. Corre la comprobación al terminar y dice «falló» si falló. Trae versión corta para modelos pequeños.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4709160" y="1097280"/>
            <a:ext cx="3977640" cy="1600200"/>
          </a:xfrm>
          <a:prstGeom prst="roundRect">
            <a:avLst>
              <a:gd name="adj" fmla="val 4571"/>
            </a:avLst>
          </a:prstGeom>
          <a:solidFill>
            <a:srgbClr val="BDE6CC"/>
          </a:solidFill>
          <a:ln w="12700">
            <a:solidFill>
              <a:srgbClr val="BDE6CC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4846320" y="1207008"/>
            <a:ext cx="3703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412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animacion-abierta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4846320" y="1517904"/>
            <a:ext cx="3703320" cy="10881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4122B"/>
                </a:solidFill>
              </a:rPr>
              <a:t>Escena, reloj y render. Tokens del estilo, pulso de 120 bpm, cinemática traducida a código, principios, reglas de diseño, qué se puede usar de Willie y qué herramientas abiertas elegir. Y por qué no un generador cerrado.</a:t>
            </a:r>
            <a:endParaRPr lang="en-US" sz="1100" dirty="0"/>
          </a:p>
        </p:txBody>
      </p:sp>
      <p:sp>
        <p:nvSpPr>
          <p:cNvPr id="9" name="Text 7"/>
          <p:cNvSpPr txBox="1"/>
          <p:nvPr/>
        </p:nvSpPr>
        <p:spPr>
          <a:xfrm>
            <a:off x="457200" y="283464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FBF7F0"/>
                </a:solidFill>
              </a:rPr>
              <a:t>Un skill es una carpeta con SKILL.md: cabecera name y description, y el cuerpo con el procedimiento. Lo leen JMD, Claude Code y OpenCode.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57200" y="3383280"/>
            <a:ext cx="8229600" cy="1234440"/>
          </a:xfrm>
          <a:prstGeom prst="roundRect">
            <a:avLst>
              <a:gd name="adj" fmla="val 5926"/>
            </a:avLst>
          </a:prstGeom>
          <a:solidFill>
            <a:srgbClr val="0E0D20"/>
          </a:solidFill>
          <a:ln w="12700">
            <a:solidFill>
              <a:srgbClr val="2E2B55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640080" y="3474720"/>
            <a:ext cx="78638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EFE6A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En el aula del LIVE ya están: 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EFE6A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jmd skills</a:t>
            </a:r>
            <a:endParaRPr lang="en-US" sz="950" dirty="0"/>
          </a:p>
          <a:p>
            <a:pPr indent="0" marL="0">
              <a:buNone/>
            </a:pP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EFE6A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En tu laptop: descarga skills-dificil.zip de Materiales y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EFE6A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bash instalar.sh .     # copia a ~/.claude/skills y ~/.config/jmd/skills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EFE6A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Windows: .\instalar.ps1</a:t>
            </a:r>
            <a:endParaRPr lang="en-US" sz="9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73168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B7B4CC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16</a:t>
            </a:fld>
            <a:endParaRPr 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92608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FBF7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Herramientas abiertas para producir de verdad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457200" y="1097280"/>
            <a:ext cx="2651760" cy="1554480"/>
          </a:xfrm>
          <a:prstGeom prst="roundRect">
            <a:avLst>
              <a:gd name="adj" fmla="val 4706"/>
            </a:avLst>
          </a:prstGeom>
          <a:solidFill>
            <a:srgbClr val="F4C2CF"/>
          </a:solidFill>
          <a:ln w="12700">
            <a:solidFill>
              <a:srgbClr val="F4C2CF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594360" y="1207008"/>
            <a:ext cx="2377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412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Crear</a:t>
            </a:r>
            <a:endParaRPr lang="en-US" sz="1300" dirty="0"/>
          </a:p>
        </p:txBody>
      </p:sp>
      <p:sp>
        <p:nvSpPr>
          <p:cNvPr id="5" name="Text 3"/>
          <p:cNvSpPr txBox="1"/>
          <p:nvPr/>
        </p:nvSpPr>
        <p:spPr>
          <a:xfrm>
            <a:off x="594360" y="1517904"/>
            <a:ext cx="2377440" cy="10424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14122B"/>
                </a:solidFill>
              </a:rPr>
              <a:t>Krita y su plugin AI Diffusion (GPL) · Blender 5 con Grease Pencil (GPL) · Pencil2D · OpenToonz (BSD) · Inkscape · PinePaper (MCP)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3246120" y="1097280"/>
            <a:ext cx="2651760" cy="1554480"/>
          </a:xfrm>
          <a:prstGeom prst="roundRect">
            <a:avLst>
              <a:gd name="adj" fmla="val 4706"/>
            </a:avLst>
          </a:prstGeom>
          <a:solidFill>
            <a:srgbClr val="F7D1A6"/>
          </a:solidFill>
          <a:ln w="12700">
            <a:solidFill>
              <a:srgbClr val="F7D1A6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3383280" y="1207008"/>
            <a:ext cx="2377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412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Mover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3383280" y="1517904"/>
            <a:ext cx="2377440" cy="10424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14122B"/>
                </a:solidFill>
              </a:rPr>
              <a:t>CSS y Web Animations · GSAP 3 (gratis con todos sus plugins desde 2025) · anime.js v4 (MIT) · Three.js (MIT) · p5.js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6035040" y="1097280"/>
            <a:ext cx="2651760" cy="1554480"/>
          </a:xfrm>
          <a:prstGeom prst="roundRect">
            <a:avLst>
              <a:gd name="adj" fmla="val 4706"/>
            </a:avLst>
          </a:prstGeom>
          <a:solidFill>
            <a:srgbClr val="EFE6A4"/>
          </a:solidFill>
          <a:ln w="12700">
            <a:solidFill>
              <a:srgbClr val="EFE6A4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6172200" y="1207008"/>
            <a:ext cx="2377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412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Generar</a:t>
            </a:r>
            <a:endParaRPr lang="en-US" sz="1300" dirty="0"/>
          </a:p>
        </p:txBody>
      </p:sp>
      <p:sp>
        <p:nvSpPr>
          <p:cNvPr id="11" name="Text 9"/>
          <p:cNvSpPr txBox="1"/>
          <p:nvPr/>
        </p:nvSpPr>
        <p:spPr>
          <a:xfrm>
            <a:off x="6172200" y="1517904"/>
            <a:ext cx="2377440" cy="10424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14122B"/>
                </a:solidFill>
              </a:rPr>
              <a:t>ComfyUI (GPL) con pesos abiertos: Wan 2.2 (Apache-2.0, 5B en 8 GB) · FramePack (6 GB) · LTX-2 (licencia comunitaria) · HunyuanVideo 1.5 · FLUX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457200" y="2788920"/>
            <a:ext cx="2651760" cy="1554480"/>
          </a:xfrm>
          <a:prstGeom prst="roundRect">
            <a:avLst>
              <a:gd name="adj" fmla="val 4706"/>
            </a:avLst>
          </a:prstGeom>
          <a:solidFill>
            <a:srgbClr val="BDE6CC"/>
          </a:solidFill>
          <a:ln w="12700">
            <a:solidFill>
              <a:srgbClr val="BDE6CC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594360" y="2898648"/>
            <a:ext cx="2377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412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Editar y render</a:t>
            </a:r>
            <a:endParaRPr lang="en-US" sz="1300" dirty="0"/>
          </a:p>
        </p:txBody>
      </p:sp>
      <p:sp>
        <p:nvSpPr>
          <p:cNvPr id="14" name="Text 12"/>
          <p:cNvSpPr txBox="1"/>
          <p:nvPr/>
        </p:nvSpPr>
        <p:spPr>
          <a:xfrm>
            <a:off x="594360" y="3209544"/>
            <a:ext cx="2377440" cy="10424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14122B"/>
                </a:solidFill>
              </a:rPr>
              <a:t>FFmpeg (LGPL/GPL) · Playwright (Apache-2.0) · Kdenlive y Shotcut (GPL) · Motion Canvas (MIT) · Remotion solo gratis hasta 3 personas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3246120" y="2788920"/>
            <a:ext cx="2651760" cy="1554480"/>
          </a:xfrm>
          <a:prstGeom prst="roundRect">
            <a:avLst>
              <a:gd name="adj" fmla="val 4706"/>
            </a:avLst>
          </a:prstGeom>
          <a:solidFill>
            <a:srgbClr val="BDD7F3"/>
          </a:solidFill>
          <a:ln w="12700">
            <a:solidFill>
              <a:srgbClr val="BDD7F3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3383280" y="2898648"/>
            <a:ext cx="2377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412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Sin GPU</a:t>
            </a:r>
            <a:endParaRPr lang="en-US" sz="1300" dirty="0"/>
          </a:p>
        </p:txBody>
      </p:sp>
      <p:sp>
        <p:nvSpPr>
          <p:cNvPr id="17" name="Text 15"/>
          <p:cNvSpPr txBox="1"/>
          <p:nvPr/>
        </p:nvSpPr>
        <p:spPr>
          <a:xfrm>
            <a:off x="3383280" y="3209544"/>
            <a:ext cx="2377440" cy="10424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14122B"/>
                </a:solidFill>
              </a:rPr>
              <a:t>Hugging Face Spaces con ZeroGPU · Kaggle · Google Colab · Modal · Cloudflare Workers AI para imágenes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6035040" y="2788920"/>
            <a:ext cx="2651760" cy="1554480"/>
          </a:xfrm>
          <a:prstGeom prst="roundRect">
            <a:avLst>
              <a:gd name="adj" fmla="val 4706"/>
            </a:avLst>
          </a:prstGeom>
          <a:solidFill>
            <a:srgbClr val="D6C5F0"/>
          </a:solidFill>
          <a:ln w="12700">
            <a:solidFill>
              <a:srgbClr val="D6C5F0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6172200" y="2898648"/>
            <a:ext cx="2377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412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Publicar</a:t>
            </a:r>
            <a:endParaRPr lang="en-US" sz="1300" dirty="0"/>
          </a:p>
        </p:txBody>
      </p:sp>
      <p:sp>
        <p:nvSpPr>
          <p:cNvPr id="20" name="Text 18"/>
          <p:cNvSpPr txBox="1"/>
          <p:nvPr/>
        </p:nvSpPr>
        <p:spPr>
          <a:xfrm>
            <a:off x="6172200" y="3209544"/>
            <a:ext cx="2377440" cy="10424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14122B"/>
                </a:solidFill>
              </a:rPr>
              <a:t>Cloudflare Pages (ancho de banda ilimitado, uso comercial) · GitHub Pages (sin comercio) · Netlify · Vercel Hobby (no comercial)</a:t>
            </a:r>
            <a:endParaRPr lang="en-US" sz="1050" dirty="0"/>
          </a:p>
        </p:txBody>
      </p:sp>
      <p:sp>
        <p:nvSpPr>
          <p:cNvPr id="21" name="Text 19"/>
          <p:cNvSpPr txBox="1"/>
          <p:nvPr/>
        </p:nvSpPr>
        <p:spPr>
          <a:xfrm>
            <a:off x="457200" y="443484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B7B4CC"/>
                </a:solidFill>
              </a:rPr>
              <a:t>Cuidado con las licencias «comunitarias»: Hunyuan excluye la UE, el Reino Unido y Corea; LTX-2 y SVD ponen tope de ingresos. Wan después de 2.2 ya no es abierto.</a:t>
            </a:r>
            <a:endParaRPr lang="en-US" sz="9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73168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B7B4CC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17</a:t>
            </a:fld>
            <a:endParaRPr lang="en-US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92608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FBF7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Capas gratuitas, con números</a:t>
            </a:r>
            <a:endParaRPr lang="en-US" sz="2400" dirty="0"/>
          </a:p>
        </p:txBody>
      </p:sp>
      <p:graphicFrame>
        <p:nvGraphicFramePr>
          <p:cNvPr id="1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097280"/>
          <a:ext cx="8229600" cy="914400"/>
        </p:xfrm>
        <a:graphic>
          <a:graphicData uri="http://schemas.openxmlformats.org/drawingml/2006/table">
            <a:tbl>
              <a:tblPr/>
              <a:tblGrid>
                <a:gridCol w="2011680"/>
                <a:gridCol w="3017520"/>
                <a:gridCol w="3200400"/>
              </a:tblGrid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BF7F0"/>
                          </a:solidFill>
                        </a:rPr>
                        <a:t>Servicio</a:t>
                      </a:r>
                      <a:endParaRPr lang="en-US" sz="10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2E2B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2B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2B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2B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D1B3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BF7F0"/>
                          </a:solidFill>
                        </a:rPr>
                        <a:t>Gratis</a:t>
                      </a:r>
                      <a:endParaRPr lang="en-US" sz="10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2E2B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2B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2B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2B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D1B3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BF7F0"/>
                          </a:solidFill>
                        </a:rPr>
                        <a:t>Para qué sirve en el taller</a:t>
                      </a:r>
                      <a:endParaRPr lang="en-US" sz="10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2E2B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2B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2B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2B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D1B38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EFE6A4"/>
                          </a:solidFill>
                        </a:rPr>
                        <a:t>Hugging Face Spaces (ZeroGPU)</a:t>
                      </a:r>
                      <a:endParaRPr lang="en-US" sz="10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2E2B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2B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2B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2B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83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FBF7F0"/>
                          </a:solidFill>
                        </a:rPr>
                        <a:t>5 min de GPU al día con cuenta gratis; 2 Spaces</a:t>
                      </a:r>
                      <a:endParaRPr lang="en-US" sz="10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2E2B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2B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2B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2B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83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FBF7F0"/>
                          </a:solidFill>
                        </a:rPr>
                        <a:t>Probar Wan 2.2, LTX-2 o Hunyuan en demos ajenas sin instalar nada</a:t>
                      </a:r>
                      <a:endParaRPr lang="en-US" sz="10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2E2B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2B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2B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2B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836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EFE6A4"/>
                          </a:solidFill>
                        </a:rPr>
                        <a:t>Kaggle</a:t>
                      </a:r>
                      <a:endParaRPr lang="en-US" sz="10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2E2B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2B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2B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2B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22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FBF7F0"/>
                          </a:solidFill>
                        </a:rPr>
                        <a:t>30 h de GPU por semana (P100 o 2×T4); 12 h por sesión; sin tarjeta</a:t>
                      </a:r>
                      <a:endParaRPr lang="en-US" sz="10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2E2B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2B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2B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2B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22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FBF7F0"/>
                          </a:solidFill>
                        </a:rPr>
                        <a:t>Correr ComfyUI con Wan 2.2 5B o FramePack; entrenar una LoRA lenta</a:t>
                      </a:r>
                      <a:endParaRPr lang="en-US" sz="10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2E2B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2B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2B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2B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22B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EFE6A4"/>
                          </a:solidFill>
                        </a:rPr>
                        <a:t>Google Colab</a:t>
                      </a:r>
                      <a:endParaRPr lang="en-US" sz="10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2E2B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2B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2B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2B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83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FBF7F0"/>
                          </a:solidFill>
                        </a:rPr>
                        <a:t>T4 cuando hay; hasta 12 h por sesión; cuota variable</a:t>
                      </a:r>
                      <a:endParaRPr lang="en-US" sz="10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2E2B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2B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2B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2B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83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FBF7F0"/>
                          </a:solidFill>
                        </a:rPr>
                        <a:t>Cuadernos de prueba; Google desaconseja interfaces web</a:t>
                      </a:r>
                      <a:endParaRPr lang="en-US" sz="10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2E2B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2B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2B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2B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836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EFE6A4"/>
                          </a:solidFill>
                        </a:rPr>
                        <a:t>Modal</a:t>
                      </a:r>
                      <a:endParaRPr lang="en-US" sz="10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2E2B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2B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2B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2B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22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FBF7F0"/>
                          </a:solidFill>
                        </a:rPr>
                        <a:t>30 US$ de cómputo al mes sin tarjeta</a:t>
                      </a:r>
                      <a:endParaRPr lang="en-US" sz="10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2E2B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2B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2B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2B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22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FBF7F0"/>
                          </a:solidFill>
                        </a:rPr>
                        <a:t>Unas 27 h de A10G al mes para renders por lotes</a:t>
                      </a:r>
                      <a:endParaRPr lang="en-US" sz="10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2E2B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2B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2B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2B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22B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EFE6A4"/>
                          </a:solidFill>
                        </a:rPr>
                        <a:t>Cloudflare Workers AI</a:t>
                      </a:r>
                      <a:endParaRPr lang="en-US" sz="10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2E2B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2B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2B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2B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83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FBF7F0"/>
                          </a:solidFill>
                        </a:rPr>
                        <a:t>10.000 neuronas al día; FLUX.1 schnell ≈ 4,8 por imagen</a:t>
                      </a:r>
                      <a:endParaRPr lang="en-US" sz="10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2E2B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2B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2B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2B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83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FBF7F0"/>
                          </a:solidFill>
                        </a:rPr>
                        <a:t>Unas 2.000 imágenes al día para fondos y texturas</a:t>
                      </a:r>
                      <a:endParaRPr lang="en-US" sz="10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2E2B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2B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2B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2B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836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EFE6A4"/>
                          </a:solidFill>
                        </a:rPr>
                        <a:t>GitHub Codespaces</a:t>
                      </a:r>
                      <a:endParaRPr lang="en-US" sz="10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2E2B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2B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2B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2B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22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FBF7F0"/>
                          </a:solidFill>
                        </a:rPr>
                        <a:t>120 horas-núcleo y 15 GB al mes</a:t>
                      </a:r>
                      <a:endParaRPr lang="en-US" sz="10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2E2B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2B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2B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2B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22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FBF7F0"/>
                          </a:solidFill>
                        </a:rPr>
                        <a:t>Editar y renderizar HTML con Playwright, sin GPU</a:t>
                      </a:r>
                      <a:endParaRPr lang="en-US" sz="10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2E2B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2B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2B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2B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22B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EFE6A4"/>
                          </a:solidFill>
                        </a:rPr>
                        <a:t>Cloudflare Pages</a:t>
                      </a:r>
                      <a:endParaRPr lang="en-US" sz="10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2E2B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2B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2B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2B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83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FBF7F0"/>
                          </a:solidFill>
                        </a:rPr>
                        <a:t>Ancho de banda ilimitado; 500 builds al mes; uso comercial</a:t>
                      </a:r>
                      <a:endParaRPr lang="en-US" sz="10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2E2B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2B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2B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2B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83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FBF7F0"/>
                          </a:solidFill>
                        </a:rPr>
                        <a:t>Publicar la pieza, el flyer y la landing</a:t>
                      </a:r>
                      <a:endParaRPr lang="en-US" sz="10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2E2B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2B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2B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2B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836"/>
                    </a:solidFill>
                  </a:tcPr>
                </a:tc>
              </a:tr>
            </a:tbl>
          </a:graphicData>
        </a:graphic>
      </p:graphicFrame>
      <p:sp>
        <p:nvSpPr>
          <p:cNvPr id="4" name="Text 1"/>
          <p:cNvSpPr txBox="1"/>
          <p:nvPr/>
        </p:nvSpPr>
        <p:spPr>
          <a:xfrm>
            <a:off x="457200" y="425196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B7B4CC"/>
                </a:solidFill>
              </a:rPr>
              <a:t>Sin capa gratuita por API: Veo 3.1 y las imágenes de Gemini. Sora ya no existe. Las cuotas cambian: revisa la página oficial antes de prometerla a un cliente.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73168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B7B4CC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18</a:t>
            </a:fld>
            <a:endParaRPr lang="en-US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92608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FBF7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Las skills y los servidores MCP que más rinden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457200" y="1097280"/>
            <a:ext cx="2651760" cy="1554480"/>
          </a:xfrm>
          <a:prstGeom prst="roundRect">
            <a:avLst>
              <a:gd name="adj" fmla="val 4706"/>
            </a:avLst>
          </a:prstGeom>
          <a:solidFill>
            <a:srgbClr val="F4C2CF"/>
          </a:solidFill>
          <a:ln w="12700">
            <a:solidFill>
              <a:srgbClr val="F4C2CF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594360" y="1207008"/>
            <a:ext cx="2377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1412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anthropics/skills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594360" y="1517904"/>
            <a:ext cx="2377440" cy="10424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14122B"/>
                </a:solidFill>
              </a:rPr>
              <a:t>19 skills oficiales: canvas-design, frontend-design, algorithmic-art (p5.js), slack-gif-creator, pptx, pdf, mcp-builder, skill-creator. Apache-2.0.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3246120" y="1097280"/>
            <a:ext cx="2651760" cy="1554480"/>
          </a:xfrm>
          <a:prstGeom prst="roundRect">
            <a:avLst>
              <a:gd name="adj" fmla="val 4706"/>
            </a:avLst>
          </a:prstGeom>
          <a:solidFill>
            <a:srgbClr val="F7D1A6"/>
          </a:solidFill>
          <a:ln w="12700">
            <a:solidFill>
              <a:srgbClr val="F7D1A6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3383280" y="1207008"/>
            <a:ext cx="2377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1412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remotion-dev/skills</a:t>
            </a:r>
            <a:endParaRPr lang="en-US" sz="1200" dirty="0"/>
          </a:p>
        </p:txBody>
      </p:sp>
      <p:sp>
        <p:nvSpPr>
          <p:cNvPr id="8" name="Text 6"/>
          <p:cNvSpPr txBox="1"/>
          <p:nvPr/>
        </p:nvSpPr>
        <p:spPr>
          <a:xfrm>
            <a:off x="3383280" y="1517904"/>
            <a:ext cx="2377440" cy="10424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14122B"/>
                </a:solidFill>
              </a:rPr>
              <a:t>12 skills oficiales de Remotion para video programático: create, render, captions, studio. npx skills add remotion-dev/skills.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6035040" y="1097280"/>
            <a:ext cx="2651760" cy="1554480"/>
          </a:xfrm>
          <a:prstGeom prst="roundRect">
            <a:avLst>
              <a:gd name="adj" fmla="val 4706"/>
            </a:avLst>
          </a:prstGeom>
          <a:solidFill>
            <a:srgbClr val="EFE6A4"/>
          </a:solidFill>
          <a:ln w="12700">
            <a:solidFill>
              <a:srgbClr val="EFE6A4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6172200" y="1207008"/>
            <a:ext cx="2377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1412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ahujasid/mcp-for-blender</a:t>
            </a:r>
            <a:endParaRPr lang="en-US" sz="1200" dirty="0"/>
          </a:p>
        </p:txBody>
      </p:sp>
      <p:sp>
        <p:nvSpPr>
          <p:cNvPr id="11" name="Text 9"/>
          <p:cNvSpPr txBox="1"/>
          <p:nvPr/>
        </p:nvSpPr>
        <p:spPr>
          <a:xfrm>
            <a:off x="6172200" y="1517904"/>
            <a:ext cx="2377440" cy="10424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14122B"/>
                </a:solidFill>
              </a:rPr>
              <a:t>Blender dirigido por lenguaje: ejecuta Python, ve el viewport, importa assets de Poly Haven. MIT. Ojo: ejecuta código en tu Blender.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457200" y="2788920"/>
            <a:ext cx="2651760" cy="1554480"/>
          </a:xfrm>
          <a:prstGeom prst="roundRect">
            <a:avLst>
              <a:gd name="adj" fmla="val 4706"/>
            </a:avLst>
          </a:prstGeom>
          <a:solidFill>
            <a:srgbClr val="BDE6CC"/>
          </a:solidFill>
          <a:ln w="12700">
            <a:solidFill>
              <a:srgbClr val="BDE6CC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594360" y="2898648"/>
            <a:ext cx="2377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1412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artokun/comfyui-mcp</a:t>
            </a:r>
            <a:endParaRPr lang="en-US" sz="1200" dirty="0"/>
          </a:p>
        </p:txBody>
      </p:sp>
      <p:sp>
        <p:nvSpPr>
          <p:cNvPr id="14" name="Text 12"/>
          <p:cNvSpPr txBox="1"/>
          <p:nvPr/>
        </p:nvSpPr>
        <p:spPr>
          <a:xfrm>
            <a:off x="594360" y="3209544"/>
            <a:ext cx="2377440" cy="10424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14122B"/>
                </a:solidFill>
              </a:rPr>
              <a:t>ComfyUI desde Claude Code: genera imagen y video con Wan, LTX y FLUX, instala modelos y edita el grafo. MIT.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3246120" y="2788920"/>
            <a:ext cx="2651760" cy="1554480"/>
          </a:xfrm>
          <a:prstGeom prst="roundRect">
            <a:avLst>
              <a:gd name="adj" fmla="val 4706"/>
            </a:avLst>
          </a:prstGeom>
          <a:solidFill>
            <a:srgbClr val="BDD7F3"/>
          </a:solidFill>
          <a:ln w="12700">
            <a:solidFill>
              <a:srgbClr val="BDD7F3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3383280" y="2898648"/>
            <a:ext cx="2377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1412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huggingface.co/mcp</a:t>
            </a:r>
            <a:endParaRPr lang="en-US" sz="1200" dirty="0"/>
          </a:p>
        </p:txBody>
      </p:sp>
      <p:sp>
        <p:nvSpPr>
          <p:cNvPr id="17" name="Text 15"/>
          <p:cNvSpPr txBox="1"/>
          <p:nvPr/>
        </p:nvSpPr>
        <p:spPr>
          <a:xfrm>
            <a:off x="3383280" y="3209544"/>
            <a:ext cx="2377440" cy="10424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14122B"/>
                </a:solidFill>
              </a:rPr>
              <a:t>El Hub como herramienta: busca modelos y corre Spaces (incluidos los de video con ZeroGPU) desde el agente. MIT.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6035040" y="2788920"/>
            <a:ext cx="2651760" cy="1554480"/>
          </a:xfrm>
          <a:prstGeom prst="roundRect">
            <a:avLst>
              <a:gd name="adj" fmla="val 4706"/>
            </a:avLst>
          </a:prstGeom>
          <a:solidFill>
            <a:srgbClr val="D6C5F0"/>
          </a:solidFill>
          <a:ln w="12700">
            <a:solidFill>
              <a:srgbClr val="D6C5F0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6172200" y="2898648"/>
            <a:ext cx="2377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1412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freshtechbro/claudedesignskills</a:t>
            </a:r>
            <a:endParaRPr lang="en-US" sz="1200" dirty="0"/>
          </a:p>
        </p:txBody>
      </p:sp>
      <p:sp>
        <p:nvSpPr>
          <p:cNvPr id="20" name="Text 18"/>
          <p:cNvSpPr txBox="1"/>
          <p:nvPr/>
        </p:nvSpPr>
        <p:spPr>
          <a:xfrm>
            <a:off x="6172200" y="3209544"/>
            <a:ext cx="2377440" cy="10424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14122B"/>
                </a:solidFill>
              </a:rPr>
              <a:t>22 plugins de diseño en movimiento: gsap-scrolltrigger, threejs-webgl, animejs, lottie, rive, pixijs. MIT.</a:t>
            </a:r>
            <a:endParaRPr lang="en-US" sz="1050" dirty="0"/>
          </a:p>
        </p:txBody>
      </p:sp>
      <p:sp>
        <p:nvSpPr>
          <p:cNvPr id="21" name="Text 19"/>
          <p:cNvSpPr txBox="1"/>
          <p:nvPr/>
        </p:nvSpPr>
        <p:spPr>
          <a:xfrm>
            <a:off x="457200" y="443484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B7B4CC"/>
                </a:solidFill>
              </a:rPr>
              <a:t>Más las dos del taller (pedido-seis-partes y animacion-abierta) y PinePaper (MCP) para el collage de la sesión 2. FFmpeg no tiene skill oficial: einverne/dotfiles trae una completa.</a:t>
            </a:r>
            <a:endParaRPr lang="en-US" sz="9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73168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B7B4CC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19</a:t>
            </a:fld>
            <a:endParaRPr lang="en-US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92608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FBF7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 prompt para ejecutar ahora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457200" y="1051560"/>
            <a:ext cx="5394960" cy="3611880"/>
          </a:xfrm>
          <a:prstGeom prst="roundRect">
            <a:avLst>
              <a:gd name="adj" fmla="val 2025"/>
            </a:avLst>
          </a:prstGeom>
          <a:solidFill>
            <a:srgbClr val="0E0D20"/>
          </a:solidFill>
          <a:ln w="12700">
            <a:solidFill>
              <a:srgbClr val="2E2B55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594360" y="1143000"/>
            <a:ext cx="5120640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BF7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Rol: Eres animador 2D y desarrollador front-end. Solo HTML, CSS, SVG y JavaScript sin librerías; sin servicios de video por IA.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BF7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Contexto: Taller «¿Difícil de explicar? ¡No!», sesión 1. Público que no programa. Visor del aula (1920 × 1080) y teléfono.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BF7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Tarea: Crea willie/index.html, pieza de 20 s con Willie (Steamboat Willie, 1928) al timón, estilo «Difícil de explicar»: tinta #14122b, seis pasteles, 120 bpm, rejilla de 0,25 s, la silueta willie.svg sin redibujar.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BF7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Límites: Solo el diseño de 1928. Sin CDN. Ningún corte menor de 0,25 s. Sin destellos. Un solo reloj. Reducir movimiento → storyboard quieto.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BF7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Formato: Un HTML. Cada escena &lt;section class="clip" data-start data-duration&gt;. Nueve escenas: encendido, título, ráfaga, paneo y zoom, profundidad, salto, pregunta, ¡No!, créditos. Botones y ?t=.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BF7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Comprobación: ?t=7 muestra el paneo a mitad, quieto. Dura 20,0 s. Con reducir movimiento nada se mueve. Dime qué archivos creaste.</a:t>
            </a:r>
            <a:endParaRPr lang="en-US" sz="950" dirty="0"/>
          </a:p>
        </p:txBody>
      </p:sp>
      <p:sp>
        <p:nvSpPr>
          <p:cNvPr id="5" name="Shape 3"/>
          <p:cNvSpPr/>
          <p:nvPr/>
        </p:nvSpPr>
        <p:spPr>
          <a:xfrm>
            <a:off x="6035040" y="1051560"/>
            <a:ext cx="2651760" cy="1097280"/>
          </a:xfrm>
          <a:prstGeom prst="roundRect">
            <a:avLst>
              <a:gd name="adj" fmla="val 6667"/>
            </a:avLst>
          </a:prstGeom>
          <a:solidFill>
            <a:srgbClr val="EFE6A4"/>
          </a:solidFill>
          <a:ln w="12700">
            <a:solidFill>
              <a:srgbClr val="EFE6A4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6172200" y="1161288"/>
            <a:ext cx="2377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412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Antes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6172200" y="1472184"/>
            <a:ext cx="237744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14122B"/>
                </a:solidFill>
              </a:rPr>
              <a:t>Carpeta vacía con willie.svg al lado. En el chat: «usa las skills pedido-seis-partes y animacion-abierta».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6035040" y="2240280"/>
            <a:ext cx="2651760" cy="1097280"/>
          </a:xfrm>
          <a:prstGeom prst="roundRect">
            <a:avLst>
              <a:gd name="adj" fmla="val 6667"/>
            </a:avLst>
          </a:prstGeom>
          <a:solidFill>
            <a:srgbClr val="BDE6CC"/>
          </a:solidFill>
          <a:ln w="12700">
            <a:solidFill>
              <a:srgbClr val="BDE6CC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6172200" y="2350008"/>
            <a:ext cx="2377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412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Qué vas a ver</a:t>
            </a:r>
            <a:endParaRPr lang="en-US" sz="1300" dirty="0"/>
          </a:p>
        </p:txBody>
      </p:sp>
      <p:sp>
        <p:nvSpPr>
          <p:cNvPr id="10" name="Text 8"/>
          <p:cNvSpPr txBox="1"/>
          <p:nvPr/>
        </p:nvSpPr>
        <p:spPr>
          <a:xfrm>
            <a:off x="6172200" y="2660904"/>
            <a:ext cx="237744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14122B"/>
                </a:solidFill>
              </a:rPr>
              <a:t>Fondo tinta y un botón Reproducir. 20 s de cortes al pulso. Con ?t=7, el paneo quieto.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6035040" y="3429000"/>
            <a:ext cx="2651760" cy="1234440"/>
          </a:xfrm>
          <a:prstGeom prst="roundRect">
            <a:avLst>
              <a:gd name="adj" fmla="val 5926"/>
            </a:avLst>
          </a:prstGeom>
          <a:solidFill>
            <a:srgbClr val="BDD7F3"/>
          </a:solidFill>
          <a:ln w="12700">
            <a:solidFill>
              <a:srgbClr val="BDD7F3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6172200" y="3538728"/>
            <a:ext cx="2377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412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 falla</a:t>
            </a:r>
            <a:endParaRPr lang="en-US" sz="1300" dirty="0"/>
          </a:p>
        </p:txBody>
      </p:sp>
      <p:sp>
        <p:nvSpPr>
          <p:cNvPr id="13" name="Text 11"/>
          <p:cNvSpPr txBox="1"/>
          <p:nvPr/>
        </p:nvSpPr>
        <p:spPr>
          <a:xfrm>
            <a:off x="6172200" y="3849624"/>
            <a:ext cx="2377440" cy="7223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14122B"/>
                </a:solidFill>
              </a:rPr>
              <a:t>Si usa un CDN o un Mickey moderno, falló el límite: señálalo con palabras exactas. Si no dura 20,0 s, pide la escena que sobra.</a:t>
            </a:r>
            <a:endParaRPr lang="en-US" sz="10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73168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B7B4CC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20</a:t>
            </a:fld>
            <a:endParaRPr lang="en-US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92608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FBF7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 pieza, el entregable y lo que sigue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457200" y="1097280"/>
            <a:ext cx="2651760" cy="1737360"/>
          </a:xfrm>
          <a:prstGeom prst="roundRect">
            <a:avLst>
              <a:gd name="adj" fmla="val 4211"/>
            </a:avLst>
          </a:prstGeom>
          <a:solidFill>
            <a:srgbClr val="F4C2CF"/>
          </a:solidFill>
          <a:ln w="12700">
            <a:solidFill>
              <a:srgbClr val="F4C2CF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594360" y="1207008"/>
            <a:ext cx="2377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412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 pieza (16 min)</a:t>
            </a:r>
            <a:endParaRPr lang="en-US" sz="1300" dirty="0"/>
          </a:p>
        </p:txBody>
      </p:sp>
      <p:sp>
        <p:nvSpPr>
          <p:cNvPr id="5" name="Text 3"/>
          <p:cNvSpPr txBox="1"/>
          <p:nvPr/>
        </p:nvSpPr>
        <p:spPr>
          <a:xfrm>
            <a:off x="594360" y="1517904"/>
            <a:ext cx="2377440" cy="12252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14122B"/>
                </a:solidFill>
              </a:rPr>
              <a:t>1 · Brief en una frase: tu mensaje.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14122B"/>
                </a:solidFill>
              </a:rPr>
              <a:t>2 · Storyboard: 4 escenas sobre la rejilla.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14122B"/>
                </a:solidFill>
              </a:rPr>
              <a:t>3 · Pedido en seis partes.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14122B"/>
                </a:solidFill>
              </a:rPr>
              <a:t>4 · Revisa con ?t=; corrige con un segundo pedido.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3246120" y="1097280"/>
            <a:ext cx="2651760" cy="1737360"/>
          </a:xfrm>
          <a:prstGeom prst="roundRect">
            <a:avLst>
              <a:gd name="adj" fmla="val 4211"/>
            </a:avLst>
          </a:prstGeom>
          <a:solidFill>
            <a:srgbClr val="F7D1A6"/>
          </a:solidFill>
          <a:ln w="12700">
            <a:solidFill>
              <a:srgbClr val="F7D1A6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3383280" y="1207008"/>
            <a:ext cx="2377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412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Entregable · tarea 1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3383280" y="1517904"/>
            <a:ext cx="2377440" cy="12252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14122B"/>
                </a:solidFill>
              </a:rPr>
              <a:t>Repositorio sesion-01: willie/, mi-pieza/ (8 a 20 s, 4 escenas), FICHA_PROMPTS.md con tus tres mejores pedidos y capturas/ con tres ?t=. Entrega desde el LMS hasta el 28 de octubre.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6035040" y="1097280"/>
            <a:ext cx="2651760" cy="1737360"/>
          </a:xfrm>
          <a:prstGeom prst="roundRect">
            <a:avLst>
              <a:gd name="adj" fmla="val 4211"/>
            </a:avLst>
          </a:prstGeom>
          <a:solidFill>
            <a:srgbClr val="BDE6CC"/>
          </a:solidFill>
          <a:ln w="12700">
            <a:solidFill>
              <a:srgbClr val="BDE6CC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6172200" y="1207008"/>
            <a:ext cx="2377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412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Rúbrica (0 a 16)</a:t>
            </a:r>
            <a:endParaRPr lang="en-US" sz="1300" dirty="0"/>
          </a:p>
        </p:txBody>
      </p:sp>
      <p:sp>
        <p:nvSpPr>
          <p:cNvPr id="11" name="Text 9"/>
          <p:cNvSpPr txBox="1"/>
          <p:nvPr/>
        </p:nvSpPr>
        <p:spPr>
          <a:xfrm>
            <a:off x="6172200" y="1517904"/>
            <a:ext cx="2377440" cy="12252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14122B"/>
                </a:solidFill>
              </a:rPr>
              <a:t>Mensaje y flujo · Pedidos a la IA · Jerarquía · Coherencia · Contenido real · Responsive · Accesibilidad · Movimiento y ritmo. No se aprueba con cero en mensaje ni en accesibilidad.</a:t>
            </a:r>
            <a:endParaRPr lang="en-US" sz="1050" dirty="0"/>
          </a:p>
        </p:txBody>
      </p:sp>
      <p:pic>
        <p:nvPicPr>
          <p:cNvPr id="12" name="Image 0" descr="/tmp/claude-0/-home-user-jmd/d413a7e9-9494-54cc-a963-42ae9b39a6a5/scratchpad/build/assets/frame-19.9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3017520"/>
            <a:ext cx="2834640" cy="1591056"/>
          </a:xfrm>
          <a:prstGeom prst="rect">
            <a:avLst/>
          </a:prstGeom>
        </p:spPr>
      </p:pic>
      <p:sp>
        <p:nvSpPr>
          <p:cNvPr id="13" name="Shape 10"/>
          <p:cNvSpPr/>
          <p:nvPr/>
        </p:nvSpPr>
        <p:spPr>
          <a:xfrm>
            <a:off x="3474720" y="3017520"/>
            <a:ext cx="2514600" cy="1600200"/>
          </a:xfrm>
          <a:prstGeom prst="roundRect">
            <a:avLst>
              <a:gd name="adj" fmla="val 4571"/>
            </a:avLst>
          </a:prstGeom>
          <a:solidFill>
            <a:srgbClr val="BDD7F3"/>
          </a:solidFill>
          <a:ln w="12700">
            <a:solidFill>
              <a:srgbClr val="BDD7F3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3611880" y="3127248"/>
            <a:ext cx="2240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412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Jue 29 oct · Sesión 2</a:t>
            </a:r>
            <a:endParaRPr lang="en-US" sz="1300" dirty="0"/>
          </a:p>
        </p:txBody>
      </p:sp>
      <p:sp>
        <p:nvSpPr>
          <p:cNvPr id="15" name="Text 12"/>
          <p:cNvSpPr txBox="1"/>
          <p:nvPr/>
        </p:nvSpPr>
        <p:spPr>
          <a:xfrm>
            <a:off x="3611880" y="3438144"/>
            <a:ext cx="2240280" cy="10881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14122B"/>
                </a:solidFill>
              </a:rPr>
              <a:t>Web y landing que funcionan. Trae el texto de un negocio real y tu WhatsApp. PinePaper y FLUX.</a:t>
            </a:r>
            <a:endParaRPr lang="en-US" sz="1050" dirty="0"/>
          </a:p>
        </p:txBody>
      </p:sp>
      <p:sp>
        <p:nvSpPr>
          <p:cNvPr id="16" name="Shape 13"/>
          <p:cNvSpPr/>
          <p:nvPr/>
        </p:nvSpPr>
        <p:spPr>
          <a:xfrm>
            <a:off x="6172200" y="3017520"/>
            <a:ext cx="2514600" cy="1600200"/>
          </a:xfrm>
          <a:prstGeom prst="roundRect">
            <a:avLst>
              <a:gd name="adj" fmla="val 4571"/>
            </a:avLst>
          </a:prstGeom>
          <a:solidFill>
            <a:srgbClr val="D6C5F0"/>
          </a:solidFill>
          <a:ln w="12700">
            <a:solidFill>
              <a:srgbClr val="D6C5F0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6309360" y="3127248"/>
            <a:ext cx="2240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412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Jue 5 nov · Sesión 3</a:t>
            </a:r>
            <a:endParaRPr lang="en-US" sz="1300" dirty="0"/>
          </a:p>
        </p:txBody>
      </p:sp>
      <p:sp>
        <p:nvSpPr>
          <p:cNvPr id="18" name="Text 15"/>
          <p:cNvSpPr txBox="1"/>
          <p:nvPr/>
        </p:nvSpPr>
        <p:spPr>
          <a:xfrm>
            <a:off x="6309360" y="3438144"/>
            <a:ext cx="2240280" cy="10881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14122B"/>
                </a:solidFill>
              </a:rPr>
              <a:t>Animación y video con HyperFrames: tu pieza se vuelve MP4, flyer y estado. Trae tu landing.</a:t>
            </a:r>
            <a:endParaRPr lang="en-US" sz="10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73168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B7B4CC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21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Dificil de explicar">
  <a:themeElements>
    <a:clrScheme name="Dificil de explicar">
      <a:dk1>
        <a:srgbClr val="14122B"/>
      </a:dk1>
      <a:lt1>
        <a:srgbClr val="FBF7F0"/>
      </a:lt1>
      <a:dk2>
        <a:srgbClr val="1D1B38"/>
      </a:dk2>
      <a:lt2>
        <a:srgbClr val="B7B4CC"/>
      </a:lt2>
      <a:accent1>
        <a:srgbClr val="F4C2CF"/>
      </a:accent1>
      <a:accent2>
        <a:srgbClr val="F7D1A6"/>
      </a:accent2>
      <a:accent3>
        <a:srgbClr val="EFE6A4"/>
      </a:accent3>
      <a:accent4>
        <a:srgbClr val="BDE6CC"/>
      </a:accent4>
      <a:accent5>
        <a:srgbClr val="BDD7F3"/>
      </a:accent5>
      <a:accent6>
        <a:srgbClr val="D6C5F0"/>
      </a:accent6>
      <a:hlink>
        <a:srgbClr val="BDD7F3"/>
      </a:hlink>
      <a:folHlink>
        <a:srgbClr val="D6C5F0"/>
      </a:folHlink>
    </a:clrScheme>
    <a:fontScheme name="Dificil de explicar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21</Slides>
  <Notes>21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Sesión 1 · Del prompt al prototipo · ¿Difícil de explicar? ¡No!</dc:title>
  <dc:subject>PptxGenJS Presentation</dc:subject>
  <dc:creator>Taller ¿Difícil de explicar? ¡No!</dc:creator>
  <cp:lastModifiedBy>Taller ¿Difícil de explicar? ¡No!</cp:lastModifiedBy>
  <cp:revision>1</cp:revision>
  <dcterms:created xsi:type="dcterms:W3CDTF">2026-10-22T22:37:37Z</dcterms:created>
  <dcterms:modified xsi:type="dcterms:W3CDTF">2026-10-22T22:37:37Z</dcterms:modified>
</cp:coreProperties>
</file>